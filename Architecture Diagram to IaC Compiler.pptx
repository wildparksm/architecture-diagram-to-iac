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7" d="100"/>
          <a:sy n="97" d="100"/>
        </p:scale>
        <p:origin x="114" y="252"/>
      </p:cViewPr>
      <p:guideLst>
        <p:guide orient="horz" pos="1440"/>
        <p:guide pos="1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2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B06B16-EC69-DE25-9B14-8C2F478433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967913" y="63500"/>
            <a:ext cx="21844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 본 문서는 TDG의 소유입니다.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E8E65-F7E9-1D26-A070-DD6B6F6BFB0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9609138" y="6657340"/>
            <a:ext cx="25431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박상민 | Architecture Diagram to IaC Compiler.pptx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2.jp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4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8.jp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0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A1730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5BB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 ·  AZURE  ·  DEVOPS AUTOMATION</a:t>
            </a:r>
            <a:endParaRPr lang="en-US" sz="1300" dirty="0"/>
          </a:p>
        </p:txBody>
      </p:sp>
      <p:sp>
        <p:nvSpPr>
          <p:cNvPr id="5" name="Text 3"/>
          <p:cNvSpPr>
            <a:spLocks/>
          </p:cNvSpPr>
          <p:nvPr/>
        </p:nvSpPr>
        <p:spPr>
          <a:xfrm>
            <a:off x="68580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Diagram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IaC Compiler</a:t>
            </a:r>
            <a:endParaRPr lang="en-US" sz="5200" dirty="0"/>
          </a:p>
        </p:txBody>
      </p:sp>
      <p:sp>
        <p:nvSpPr>
          <p:cNvPr id="6" name="Text 4"/>
          <p:cNvSpPr>
            <a:spLocks/>
          </p:cNvSpPr>
          <p:nvPr/>
        </p:nvSpPr>
        <p:spPr>
          <a:xfrm>
            <a:off x="685800" y="37947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슬라이드·구성도 분석 기반 Azure Bicep·Terraform 자동 생성 플랫폼 기획</a:t>
            </a:r>
            <a:endParaRPr lang="en-US" sz="1700" dirty="0"/>
          </a:p>
        </p:txBody>
      </p:sp>
      <p:sp>
        <p:nvSpPr>
          <p:cNvPr id="7" name="Shape 5"/>
          <p:cNvSpPr>
            <a:spLocks/>
          </p:cNvSpPr>
          <p:nvPr/>
        </p:nvSpPr>
        <p:spPr>
          <a:xfrm>
            <a:off x="685800" y="4754880"/>
            <a:ext cx="2514600" cy="786384"/>
          </a:xfrm>
          <a:prstGeom prst="roundRect">
            <a:avLst>
              <a:gd name="adj" fmla="val 10465"/>
            </a:avLst>
          </a:prstGeom>
          <a:solidFill>
            <a:srgbClr val="12294C">
              <a:alpha val="90000"/>
            </a:srgbClr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구성도 이미지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79" y="4901184"/>
            <a:ext cx="487025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4754880"/>
            <a:ext cx="1728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구성도 이미지</a:t>
            </a:r>
            <a:endParaRPr lang="en-US" sz="13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 / draw.io / PPTX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0128" y="5148072"/>
            <a:ext cx="34747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767328" y="4754880"/>
            <a:ext cx="2514600" cy="786384"/>
          </a:xfrm>
          <a:prstGeom prst="roundRect">
            <a:avLst>
              <a:gd name="adj" fmla="val 10465"/>
            </a:avLst>
          </a:prstGeom>
          <a:solidFill>
            <a:srgbClr val="12294C">
              <a:alpha val="90000"/>
            </a:srgbClr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AI 분석 엔진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951333"/>
            <a:ext cx="493776" cy="3934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4754880"/>
            <a:ext cx="1728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분석 엔진</a:t>
            </a:r>
            <a:endParaRPr lang="en-US" sz="13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+ IR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91656" y="5148072"/>
            <a:ext cx="34747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848856" y="4754880"/>
            <a:ext cx="2514600" cy="786384"/>
          </a:xfrm>
          <a:prstGeom prst="roundRect">
            <a:avLst>
              <a:gd name="adj" fmla="val 10465"/>
            </a:avLst>
          </a:prstGeom>
          <a:solidFill>
            <a:srgbClr val="12294C">
              <a:alpha val="90000"/>
            </a:srgbClr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IaC 코드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4927223"/>
            <a:ext cx="493776" cy="4416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16952" y="4754880"/>
            <a:ext cx="17282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IaC 코드</a:t>
            </a:r>
            <a:endParaRPr lang="en-US" sz="13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 · Terraform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84AD"/>
                </a:solidFill>
              </a:rPr>
              <a:t>2026 · Architecture Diagram Understanding Engine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PROBLEM DEFINITION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문제 정의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20095" cy="841248"/>
          </a:xfrm>
          <a:prstGeom prst="roundRect">
            <a:avLst>
              <a:gd name="adj" fmla="val 9783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929384"/>
            <a:ext cx="50292" cy="548640"/>
          </a:xfrm>
          <a:prstGeom prst="rect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1005840" y="1783080"/>
            <a:ext cx="10271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8F0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현재 클라우드 구성도는 사람이 읽고, 수동으로 IaC 코드로 재작성한다.</a:t>
            </a:r>
            <a:endParaRPr lang="en-US" sz="1500" dirty="0"/>
          </a:p>
        </p:txBody>
      </p:sp>
      <p:sp>
        <p:nvSpPr>
          <p:cNvPr id="9" name="Shape 7"/>
          <p:cNvSpPr>
            <a:spLocks/>
          </p:cNvSpPr>
          <p:nvPr/>
        </p:nvSpPr>
        <p:spPr>
          <a:xfrm>
            <a:off x="685800" y="2880360"/>
            <a:ext cx="5254600" cy="1572768"/>
          </a:xfrm>
          <a:prstGeom prst="roundRect">
            <a:avLst>
              <a:gd name="adj" fmla="val 465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0120" y="3172968"/>
            <a:ext cx="841248" cy="841248"/>
          </a:xfrm>
          <a:prstGeom prst="roundRect">
            <a:avLst>
              <a:gd name="adj" fmla="val 7609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docsca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30" y="3307568"/>
            <a:ext cx="564228" cy="57204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84248" y="3136392"/>
            <a:ext cx="370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흩어진 아키텍처 소스</a:t>
            </a:r>
            <a:endParaRPr lang="en-US" sz="1550" dirty="0"/>
          </a:p>
        </p:txBody>
      </p:sp>
      <p:sp>
        <p:nvSpPr>
          <p:cNvPr id="13" name="Text 10"/>
          <p:cNvSpPr>
            <a:spLocks/>
          </p:cNvSpPr>
          <p:nvPr/>
        </p:nvSpPr>
        <p:spPr>
          <a:xfrm>
            <a:off x="1984248" y="3557016"/>
            <a:ext cx="370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· draw.io · PDF · 이미지 형태로 구성도가 분산되어 관리된다.</a:t>
            </a:r>
            <a:endParaRPr lang="en-US" sz="1200" dirty="0"/>
          </a:p>
        </p:txBody>
      </p:sp>
      <p:sp>
        <p:nvSpPr>
          <p:cNvPr id="14" name="Shape 11"/>
          <p:cNvSpPr>
            <a:spLocks/>
          </p:cNvSpPr>
          <p:nvPr/>
        </p:nvSpPr>
        <p:spPr>
          <a:xfrm>
            <a:off x="6251296" y="2880360"/>
            <a:ext cx="5254600" cy="1572768"/>
          </a:xfrm>
          <a:prstGeom prst="roundRect">
            <a:avLst>
              <a:gd name="adj" fmla="val 465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525616" y="3172968"/>
            <a:ext cx="841248" cy="841248"/>
          </a:xfrm>
          <a:prstGeom prst="roundRect">
            <a:avLst>
              <a:gd name="adj" fmla="val 7609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graph icon"/>
          <p:cNvPicPr>
            <a:picLocks noChangeAspect="1"/>
          </p:cNvPicPr>
          <p:nvPr/>
        </p:nvPicPr>
        <p:blipFill>
          <a:blip r:embed="rId4"/>
          <a:srcRect l="1660" r="1660"/>
          <a:stretch>
            <a:fillRect/>
          </a:stretch>
        </p:blipFill>
        <p:spPr>
          <a:xfrm>
            <a:off x="6660215" y="3307568"/>
            <a:ext cx="572049" cy="5720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9744" y="3136392"/>
            <a:ext cx="370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의도가 코드에 미반영</a:t>
            </a:r>
            <a:endParaRPr lang="en-US" sz="1550" dirty="0"/>
          </a:p>
        </p:txBody>
      </p:sp>
      <p:sp>
        <p:nvSpPr>
          <p:cNvPr id="18" name="Text 14"/>
          <p:cNvSpPr>
            <a:spLocks/>
          </p:cNvSpPr>
          <p:nvPr/>
        </p:nvSpPr>
        <p:spPr>
          <a:xfrm>
            <a:off x="7549744" y="3557016"/>
            <a:ext cx="370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구성요소·연결선·보안 경계·운영 의도가 IaC 코드에 반영되지 않는다.</a:t>
            </a:r>
            <a:endParaRPr lang="en-US" sz="1200" dirty="0"/>
          </a:p>
        </p:txBody>
      </p:sp>
      <p:sp>
        <p:nvSpPr>
          <p:cNvPr id="19" name="Shape 15"/>
          <p:cNvSpPr>
            <a:spLocks/>
          </p:cNvSpPr>
          <p:nvPr/>
        </p:nvSpPr>
        <p:spPr>
          <a:xfrm>
            <a:off x="685800" y="4727448"/>
            <a:ext cx="5254600" cy="1572768"/>
          </a:xfrm>
          <a:prstGeom prst="roundRect">
            <a:avLst>
              <a:gd name="adj" fmla="val 465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60120" y="5020056"/>
            <a:ext cx="841248" cy="841248"/>
          </a:xfrm>
          <a:prstGeom prst="roundRect">
            <a:avLst>
              <a:gd name="adj" fmla="val 7609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devop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720" y="5203258"/>
            <a:ext cx="572049" cy="47484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84248" y="4983480"/>
            <a:ext cx="370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반복되는 수작업</a:t>
            </a:r>
            <a:endParaRPr lang="en-US" sz="1550" dirty="0"/>
          </a:p>
        </p:txBody>
      </p:sp>
      <p:sp>
        <p:nvSpPr>
          <p:cNvPr id="23" name="Text 18"/>
          <p:cNvSpPr>
            <a:spLocks/>
          </p:cNvSpPr>
          <p:nvPr/>
        </p:nvSpPr>
        <p:spPr>
          <a:xfrm>
            <a:off x="1984248" y="5404104"/>
            <a:ext cx="370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Bicep/Terraform 작성 전 분석·정규화 과정이 매번 수작업으로 반복된다.</a:t>
            </a:r>
            <a:endParaRPr lang="en-US" sz="1200" dirty="0"/>
          </a:p>
        </p:txBody>
      </p:sp>
      <p:sp>
        <p:nvSpPr>
          <p:cNvPr id="24" name="Shape 19"/>
          <p:cNvSpPr>
            <a:spLocks/>
          </p:cNvSpPr>
          <p:nvPr/>
        </p:nvSpPr>
        <p:spPr>
          <a:xfrm>
            <a:off x="6251296" y="4727448"/>
            <a:ext cx="5254600" cy="1572768"/>
          </a:xfrm>
          <a:prstGeom prst="roundRect">
            <a:avLst>
              <a:gd name="adj" fmla="val 465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525616" y="5020056"/>
            <a:ext cx="841248" cy="841248"/>
          </a:xfrm>
          <a:prstGeom prst="roundRect">
            <a:avLst>
              <a:gd name="adj" fmla="val 7609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shiel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700" y="5154656"/>
            <a:ext cx="477079" cy="57204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9744" y="4983480"/>
            <a:ext cx="370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배포 오류 발생</a:t>
            </a:r>
            <a:endParaRPr lang="en-US" sz="1550" dirty="0"/>
          </a:p>
        </p:txBody>
      </p:sp>
      <p:sp>
        <p:nvSpPr>
          <p:cNvPr id="28" name="Text 22"/>
          <p:cNvSpPr>
            <a:spLocks/>
          </p:cNvSpPr>
          <p:nvPr/>
        </p:nvSpPr>
        <p:spPr>
          <a:xfrm>
            <a:off x="7549744" y="5404104"/>
            <a:ext cx="3700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누락된 SKU·CIDR·권한·정책 정보 때문에 실제 배포에서 오류가 발생한다.</a:t>
            </a:r>
            <a:endParaRPr lang="en-US" sz="1200" dirty="0"/>
          </a:p>
        </p:txBody>
      </p:sp>
      <p:sp>
        <p:nvSpPr>
          <p:cNvPr id="29" name="Text 23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02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KEY INSIGHT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최종 결론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0820095" cy="841248"/>
          </a:xfrm>
          <a:prstGeom prst="roundRect">
            <a:avLst>
              <a:gd name="adj" fmla="val 9783"/>
            </a:avLst>
          </a:prstGeom>
          <a:solidFill>
            <a:srgbClr val="12294C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929384"/>
            <a:ext cx="50292" cy="5486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1005840" y="1783080"/>
            <a:ext cx="10271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8F0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“그림에서 바로 코드 생성” 보다 먼저, “구성도 이해 엔진”이 필요하다.</a:t>
            </a:r>
            <a:endParaRPr lang="en-US" sz="1500" dirty="0"/>
          </a:p>
        </p:txBody>
      </p:sp>
      <p:sp>
        <p:nvSpPr>
          <p:cNvPr id="9" name="Text 7"/>
          <p:cNvSpPr>
            <a:spLocks/>
          </p:cNvSpPr>
          <p:nvPr/>
        </p:nvSpPr>
        <p:spPr>
          <a:xfrm>
            <a:off x="685800" y="2852928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이미지 한 장에 모든 것을 맡기지 않는다 — 6개 기술 블록을 하나의 분석 엔진으로 결합한다.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429000"/>
            <a:ext cx="1589989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원본 구조 정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98" y="3630168"/>
            <a:ext cx="757594" cy="7680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4361688"/>
            <a:ext cx="14985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원본 구조 정보</a:t>
            </a:r>
            <a:endParaRPr lang="en-US" sz="1150" dirty="0"/>
          </a:p>
        </p:txBody>
      </p:sp>
      <p:sp>
        <p:nvSpPr>
          <p:cNvPr id="13" name="Text 10"/>
          <p:cNvSpPr>
            <a:spLocks/>
          </p:cNvSpPr>
          <p:nvPr/>
        </p:nvSpPr>
        <p:spPr>
          <a:xfrm>
            <a:off x="731520" y="4581144"/>
            <a:ext cx="14985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shape metadata</a:t>
            </a:r>
            <a:endParaRPr lang="en-US" sz="800" dirty="0"/>
          </a:p>
        </p:txBody>
      </p:sp>
      <p:sp>
        <p:nvSpPr>
          <p:cNvPr id="14" name="Shape 11"/>
          <p:cNvSpPr>
            <a:spLocks/>
          </p:cNvSpPr>
          <p:nvPr/>
        </p:nvSpPr>
        <p:spPr>
          <a:xfrm>
            <a:off x="2531821" y="3429000"/>
            <a:ext cx="1589989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이미지 인식"/>
          <p:cNvPicPr>
            <a:picLocks noChangeAspect="1"/>
          </p:cNvPicPr>
          <p:nvPr/>
        </p:nvPicPr>
        <p:blipFill>
          <a:blip r:embed="rId4"/>
          <a:srcRect l="1660" r="1660"/>
          <a:stretch>
            <a:fillRect/>
          </a:stretch>
        </p:blipFill>
        <p:spPr>
          <a:xfrm>
            <a:off x="2942768" y="3630168"/>
            <a:ext cx="768096" cy="7680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77541" y="4361688"/>
            <a:ext cx="14985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이미지 인식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577541" y="4581144"/>
            <a:ext cx="14985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layout</a:t>
            </a:r>
            <a:endParaRPr lang="en-US" sz="800" dirty="0"/>
          </a:p>
        </p:txBody>
      </p:sp>
      <p:sp>
        <p:nvSpPr>
          <p:cNvPr id="18" name="Shape 14"/>
          <p:cNvSpPr>
            <a:spLocks/>
          </p:cNvSpPr>
          <p:nvPr/>
        </p:nvSpPr>
        <p:spPr>
          <a:xfrm>
            <a:off x="4377842" y="3429000"/>
            <a:ext cx="1589989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OC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789" y="3670673"/>
            <a:ext cx="768096" cy="6870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23562" y="4361688"/>
            <a:ext cx="14985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OCR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423562" y="4581144"/>
            <a:ext cx="14985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· label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6223864" y="3429000"/>
            <a:ext cx="1589989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아이콘 매칭"/>
          <p:cNvPicPr>
            <a:picLocks noChangeAspect="1"/>
          </p:cNvPicPr>
          <p:nvPr/>
        </p:nvPicPr>
        <p:blipFill>
          <a:blip r:embed="rId6"/>
          <a:srcRect l="16113" r="16114"/>
          <a:stretch>
            <a:fillRect/>
          </a:stretch>
        </p:blipFill>
        <p:spPr>
          <a:xfrm>
            <a:off x="6634810" y="3630168"/>
            <a:ext cx="768096" cy="768096"/>
          </a:xfrm>
          <a:prstGeom prst="rect">
            <a:avLst/>
          </a:prstGeom>
        </p:spPr>
      </p:pic>
      <p:sp>
        <p:nvSpPr>
          <p:cNvPr id="24" name="Text 18"/>
          <p:cNvSpPr>
            <a:spLocks/>
          </p:cNvSpPr>
          <p:nvPr/>
        </p:nvSpPr>
        <p:spPr>
          <a:xfrm>
            <a:off x="6269584" y="4361688"/>
            <a:ext cx="14985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아이콘 매칭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269584" y="4581144"/>
            <a:ext cx="14985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resource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8069885" y="3429000"/>
            <a:ext cx="1589989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LLM Reason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0831" y="3708178"/>
            <a:ext cx="768096" cy="612076"/>
          </a:xfrm>
          <a:prstGeom prst="rect">
            <a:avLst/>
          </a:prstGeom>
        </p:spPr>
      </p:pic>
      <p:sp>
        <p:nvSpPr>
          <p:cNvPr id="28" name="Text 21"/>
          <p:cNvSpPr>
            <a:spLocks/>
          </p:cNvSpPr>
          <p:nvPr/>
        </p:nvSpPr>
        <p:spPr>
          <a:xfrm>
            <a:off x="8115605" y="4361688"/>
            <a:ext cx="14985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LLM Reasoning</a:t>
            </a:r>
            <a:endParaRPr lang="en-US" sz="1150" dirty="0"/>
          </a:p>
        </p:txBody>
      </p:sp>
      <p:sp>
        <p:nvSpPr>
          <p:cNvPr id="29" name="Text 22"/>
          <p:cNvSpPr>
            <a:spLocks/>
          </p:cNvSpPr>
          <p:nvPr/>
        </p:nvSpPr>
        <p:spPr>
          <a:xfrm>
            <a:off x="8115605" y="4581144"/>
            <a:ext cx="14985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9915906" y="3429000"/>
            <a:ext cx="1589989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Self-Ensemb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5108" y="3630168"/>
            <a:ext cx="691586" cy="7680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61626" y="4361688"/>
            <a:ext cx="14985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Self-Ensemble</a:t>
            </a:r>
            <a:endParaRPr lang="en-US" sz="1150" dirty="0"/>
          </a:p>
        </p:txBody>
      </p:sp>
      <p:sp>
        <p:nvSpPr>
          <p:cNvPr id="33" name="Text 25"/>
          <p:cNvSpPr>
            <a:spLocks/>
          </p:cNvSpPr>
          <p:nvPr/>
        </p:nvSpPr>
        <p:spPr>
          <a:xfrm>
            <a:off x="9961626" y="4581144"/>
            <a:ext cx="14985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merge</a:t>
            </a:r>
            <a:endParaRPr lang="en-US" sz="800" dirty="0"/>
          </a:p>
        </p:txBody>
      </p:sp>
      <p:sp>
        <p:nvSpPr>
          <p:cNvPr id="34" name="Text 26"/>
          <p:cNvSpPr>
            <a:spLocks/>
          </p:cNvSpPr>
          <p:nvPr/>
        </p:nvSpPr>
        <p:spPr>
          <a:xfrm>
            <a:off x="685800" y="50292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B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signals  →  1 Architecture Understanding Engine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03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WORKFLOW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Multi-Stage Architecture Understanding Workflow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373298" cy="1051560"/>
          </a:xfrm>
          <a:prstGeom prst="roundRect">
            <a:avLst>
              <a:gd name="adj" fmla="val 6957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758952" y="2596896"/>
            <a:ext cx="122699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Input Files</a:t>
            </a:r>
            <a:endParaRPr lang="en-US" sz="1100" dirty="0"/>
          </a:p>
        </p:txBody>
      </p:sp>
      <p:sp>
        <p:nvSpPr>
          <p:cNvPr id="9" name="Shape 7"/>
          <p:cNvSpPr>
            <a:spLocks/>
          </p:cNvSpPr>
          <p:nvPr/>
        </p:nvSpPr>
        <p:spPr>
          <a:xfrm>
            <a:off x="2077386" y="2811780"/>
            <a:ext cx="16459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260266" y="2286000"/>
            <a:ext cx="1373298" cy="1051560"/>
          </a:xfrm>
          <a:prstGeom prst="roundRect">
            <a:avLst>
              <a:gd name="adj" fmla="val 6957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351706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3418" y="2596896"/>
            <a:ext cx="122699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Multi-Extractor</a:t>
            </a:r>
            <a:endParaRPr lang="en-US" sz="1100" dirty="0"/>
          </a:p>
        </p:txBody>
      </p:sp>
      <p:sp>
        <p:nvSpPr>
          <p:cNvPr id="13" name="Shape 11"/>
          <p:cNvSpPr>
            <a:spLocks/>
          </p:cNvSpPr>
          <p:nvPr/>
        </p:nvSpPr>
        <p:spPr>
          <a:xfrm>
            <a:off x="3651852" y="2811780"/>
            <a:ext cx="16459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>
            <a:spLocks/>
          </p:cNvSpPr>
          <p:nvPr/>
        </p:nvSpPr>
        <p:spPr>
          <a:xfrm>
            <a:off x="3834732" y="2286000"/>
            <a:ext cx="1373298" cy="1051560"/>
          </a:xfrm>
          <a:prstGeom prst="roundRect">
            <a:avLst>
              <a:gd name="adj" fmla="val 6957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926172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07884" y="2596896"/>
            <a:ext cx="122699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Element Registry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26319" y="2811780"/>
            <a:ext cx="16459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>
            <a:spLocks/>
          </p:cNvSpPr>
          <p:nvPr/>
        </p:nvSpPr>
        <p:spPr>
          <a:xfrm>
            <a:off x="5409199" y="2286000"/>
            <a:ext cx="1373298" cy="1051560"/>
          </a:xfrm>
          <a:prstGeom prst="roundRect">
            <a:avLst>
              <a:gd name="adj" fmla="val 6957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>
            <a:spLocks/>
          </p:cNvSpPr>
          <p:nvPr/>
        </p:nvSpPr>
        <p:spPr>
          <a:xfrm>
            <a:off x="5500639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2351" y="2596896"/>
            <a:ext cx="122699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Graph Reconstruction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0785" y="2811780"/>
            <a:ext cx="16459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983665" y="2286000"/>
            <a:ext cx="1373298" cy="1051560"/>
          </a:xfrm>
          <a:prstGeom prst="roundRect">
            <a:avLst>
              <a:gd name="adj" fmla="val 6957"/>
            </a:avLst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>
            <a:spLocks/>
          </p:cNvSpPr>
          <p:nvPr/>
        </p:nvSpPr>
        <p:spPr>
          <a:xfrm>
            <a:off x="7075105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>
            <a:spLocks/>
          </p:cNvSpPr>
          <p:nvPr/>
        </p:nvSpPr>
        <p:spPr>
          <a:xfrm>
            <a:off x="7056817" y="2596896"/>
            <a:ext cx="122699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IR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75251" y="2811780"/>
            <a:ext cx="16459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558131" y="2286000"/>
            <a:ext cx="1373298" cy="1051560"/>
          </a:xfrm>
          <a:prstGeom prst="roundRect">
            <a:avLst>
              <a:gd name="adj" fmla="val 6957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649571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>
            <a:spLocks/>
          </p:cNvSpPr>
          <p:nvPr/>
        </p:nvSpPr>
        <p:spPr>
          <a:xfrm>
            <a:off x="8631283" y="2596896"/>
            <a:ext cx="122699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IaC Generator</a:t>
            </a:r>
            <a:endParaRPr lang="en-US" sz="1100" dirty="0"/>
          </a:p>
        </p:txBody>
      </p:sp>
      <p:sp>
        <p:nvSpPr>
          <p:cNvPr id="29" name="Shape 27"/>
          <p:cNvSpPr>
            <a:spLocks/>
          </p:cNvSpPr>
          <p:nvPr/>
        </p:nvSpPr>
        <p:spPr>
          <a:xfrm>
            <a:off x="9949717" y="2811780"/>
            <a:ext cx="164592" cy="0"/>
          </a:xfrm>
          <a:prstGeom prst="line">
            <a:avLst/>
          </a:prstGeom>
          <a:noFill/>
          <a:ln w="2857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132597" y="2286000"/>
            <a:ext cx="1373298" cy="1051560"/>
          </a:xfrm>
          <a:prstGeom prst="roundRect">
            <a:avLst>
              <a:gd name="adj" fmla="val 6957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224037" y="239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05749" y="2596896"/>
            <a:ext cx="122699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/ What-if</a:t>
            </a:r>
            <a:endParaRPr lang="en-US" sz="1100" dirty="0"/>
          </a:p>
        </p:txBody>
      </p:sp>
      <p:sp>
        <p:nvSpPr>
          <p:cNvPr id="33" name="Text 31"/>
          <p:cNvSpPr>
            <a:spLocks/>
          </p:cNvSpPr>
          <p:nvPr/>
        </p:nvSpPr>
        <p:spPr>
          <a:xfrm>
            <a:off x="685800" y="37947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OUTPUTS</a:t>
            </a:r>
            <a:endParaRPr lang="en-US" sz="1200" dirty="0"/>
          </a:p>
        </p:txBody>
      </p:sp>
      <p:sp>
        <p:nvSpPr>
          <p:cNvPr id="34" name="Shape 32"/>
          <p:cNvSpPr>
            <a:spLocks/>
          </p:cNvSpPr>
          <p:nvPr/>
        </p:nvSpPr>
        <p:spPr>
          <a:xfrm>
            <a:off x="685800" y="4160520"/>
            <a:ext cx="1944563" cy="1417320"/>
          </a:xfrm>
          <a:prstGeom prst="roundRect">
            <a:avLst>
              <a:gd name="adj" fmla="val 516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0" descr="Bic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2" y="4418552"/>
            <a:ext cx="731520" cy="654367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31520" y="51297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Bicep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904683" y="4160520"/>
            <a:ext cx="1944563" cy="1417320"/>
          </a:xfrm>
          <a:prstGeom prst="roundRect">
            <a:avLst>
              <a:gd name="adj" fmla="val 516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1" descr="Terrafo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05" y="4418552"/>
            <a:ext cx="731520" cy="654367"/>
          </a:xfrm>
          <a:prstGeom prst="rect">
            <a:avLst/>
          </a:prstGeom>
        </p:spPr>
      </p:pic>
      <p:sp>
        <p:nvSpPr>
          <p:cNvPr id="39" name="Text 35"/>
          <p:cNvSpPr>
            <a:spLocks/>
          </p:cNvSpPr>
          <p:nvPr/>
        </p:nvSpPr>
        <p:spPr>
          <a:xfrm>
            <a:off x="2950403" y="51297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40" name="Shape 36"/>
          <p:cNvSpPr>
            <a:spLocks/>
          </p:cNvSpPr>
          <p:nvPr/>
        </p:nvSpPr>
        <p:spPr>
          <a:xfrm>
            <a:off x="5123566" y="4160520"/>
            <a:ext cx="1944563" cy="1417320"/>
          </a:xfrm>
          <a:prstGeom prst="roundRect">
            <a:avLst>
              <a:gd name="adj" fmla="val 516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2" descr="Validation Repo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387" y="4379976"/>
            <a:ext cx="522922" cy="731520"/>
          </a:xfrm>
          <a:prstGeom prst="rect">
            <a:avLst/>
          </a:prstGeom>
        </p:spPr>
      </p:pic>
      <p:sp>
        <p:nvSpPr>
          <p:cNvPr id="42" name="Text 37"/>
          <p:cNvSpPr>
            <a:spLocks/>
          </p:cNvSpPr>
          <p:nvPr/>
        </p:nvSpPr>
        <p:spPr>
          <a:xfrm>
            <a:off x="5169286" y="51297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Report</a:t>
            </a:r>
            <a:endParaRPr lang="en-US" sz="1200" dirty="0"/>
          </a:p>
        </p:txBody>
      </p:sp>
      <p:sp>
        <p:nvSpPr>
          <p:cNvPr id="43" name="Shape 38"/>
          <p:cNvSpPr>
            <a:spLocks/>
          </p:cNvSpPr>
          <p:nvPr/>
        </p:nvSpPr>
        <p:spPr>
          <a:xfrm>
            <a:off x="7342449" y="4160520"/>
            <a:ext cx="1944563" cy="1417320"/>
          </a:xfrm>
          <a:prstGeom prst="roundRect">
            <a:avLst>
              <a:gd name="adj" fmla="val 516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3" descr="Missing Ques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972" y="4379976"/>
            <a:ext cx="721518" cy="731520"/>
          </a:xfrm>
          <a:prstGeom prst="rect">
            <a:avLst/>
          </a:prstGeom>
        </p:spPr>
      </p:pic>
      <p:sp>
        <p:nvSpPr>
          <p:cNvPr id="45" name="Text 39"/>
          <p:cNvSpPr>
            <a:spLocks/>
          </p:cNvSpPr>
          <p:nvPr/>
        </p:nvSpPr>
        <p:spPr>
          <a:xfrm>
            <a:off x="7388169" y="51297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Missing Questions</a:t>
            </a:r>
            <a:endParaRPr lang="en-US" sz="1200" dirty="0"/>
          </a:p>
        </p:txBody>
      </p:sp>
      <p:sp>
        <p:nvSpPr>
          <p:cNvPr id="46" name="Shape 40"/>
          <p:cNvSpPr>
            <a:spLocks/>
          </p:cNvSpPr>
          <p:nvPr/>
        </p:nvSpPr>
        <p:spPr>
          <a:xfrm>
            <a:off x="9561332" y="4160520"/>
            <a:ext cx="1944563" cy="1417320"/>
          </a:xfrm>
          <a:prstGeom prst="roundRect">
            <a:avLst>
              <a:gd name="adj" fmla="val 516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4" descr="Architecture Review"/>
          <p:cNvPicPr>
            <a:picLocks noChangeAspect="1"/>
          </p:cNvPicPr>
          <p:nvPr/>
        </p:nvPicPr>
        <p:blipFill>
          <a:blip r:embed="rId6"/>
          <a:srcRect l="1660" r="1660"/>
          <a:stretch>
            <a:fillRect/>
          </a:stretch>
        </p:blipFill>
        <p:spPr>
          <a:xfrm>
            <a:off x="10167854" y="4379976"/>
            <a:ext cx="731520" cy="73152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9607052" y="5129784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Review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50" name="Text 43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04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VLM STRATEGY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VLM은 단독 판정자가 아니라 Reconciliation Engine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05256" y="2276856"/>
            <a:ext cx="256032" cy="256032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905256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>
            <a:spLocks/>
          </p:cNvSpPr>
          <p:nvPr/>
        </p:nvSpPr>
        <p:spPr>
          <a:xfrm>
            <a:off x="1344168" y="210312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Full-slide VLM   </a:t>
            </a:r>
            <a:r>
              <a:rPr lang="en-US" sz="10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전체 구조 파악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816352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05256" y="2990088"/>
            <a:ext cx="256032" cy="256032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05256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>
            <a:spLocks/>
          </p:cNvSpPr>
          <p:nvPr/>
        </p:nvSpPr>
        <p:spPr>
          <a:xfrm>
            <a:off x="1344168" y="281635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Tile / Crop VLM   </a:t>
            </a:r>
            <a:r>
              <a:rPr lang="en-US" sz="10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작은 아이콘·텍스트 보강</a:t>
            </a:r>
            <a:endParaRPr lang="en-US" sz="125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>
            <a:off x="685800" y="3529584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05256" y="3703320"/>
            <a:ext cx="256032" cy="256032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05256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44168" y="352958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결과 보정   </a:t>
            </a:r>
            <a:r>
              <a:rPr lang="en-US" sz="10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레이블·주석 정합</a:t>
            </a:r>
            <a:endParaRPr lang="en-US" sz="1250" dirty="0"/>
          </a:p>
        </p:txBody>
      </p:sp>
      <p:sp>
        <p:nvSpPr>
          <p:cNvPr id="18" name="Shape 16"/>
          <p:cNvSpPr>
            <a:spLocks/>
          </p:cNvSpPr>
          <p:nvPr/>
        </p:nvSpPr>
        <p:spPr>
          <a:xfrm>
            <a:off x="685800" y="4242816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>
            <a:spLocks/>
          </p:cNvSpPr>
          <p:nvPr/>
        </p:nvSpPr>
        <p:spPr>
          <a:xfrm>
            <a:off x="905256" y="4416552"/>
            <a:ext cx="256032" cy="256032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05256" y="4416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44168" y="424281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아이콘 후보 검증   </a:t>
            </a:r>
            <a:r>
              <a:rPr lang="en-US" sz="10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리소스 매칭 확인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56048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>
            <a:spLocks/>
          </p:cNvSpPr>
          <p:nvPr/>
        </p:nvSpPr>
        <p:spPr>
          <a:xfrm>
            <a:off x="905256" y="5129784"/>
            <a:ext cx="256032" cy="256032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>
            <a:spLocks/>
          </p:cNvSpPr>
          <p:nvPr/>
        </p:nvSpPr>
        <p:spPr>
          <a:xfrm>
            <a:off x="905256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44168" y="495604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연결선 / 컨테이너 의미 해석   </a:t>
            </a:r>
            <a:r>
              <a:rPr lang="en-US" sz="10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· boundary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5669280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05256" y="5843016"/>
            <a:ext cx="256032" cy="256032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>
            <a:spLocks/>
          </p:cNvSpPr>
          <p:nvPr/>
        </p:nvSpPr>
        <p:spPr>
          <a:xfrm>
            <a:off x="905256" y="5843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7"/>
          <p:cNvSpPr>
            <a:spLocks/>
          </p:cNvSpPr>
          <p:nvPr/>
        </p:nvSpPr>
        <p:spPr>
          <a:xfrm>
            <a:off x="1344168" y="566928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최종 Architecture Graph 정리   </a:t>
            </a:r>
            <a:r>
              <a:rPr lang="en-US" sz="10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reconciled output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76108" y="2926080"/>
            <a:ext cx="2103120" cy="2103120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  <a:effectLst>
            <a:outerShdw blurRad="152400" dist="50800" dir="16200000" algn="bl" rotWithShape="0">
              <a:srgbClr val="0A3E7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0" descr="VLM hu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748" y="3421428"/>
            <a:ext cx="1005840" cy="80152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221828" y="43251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VLM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Reconciliation</a:t>
            </a:r>
            <a:endParaRPr lang="en-US" sz="1250" dirty="0"/>
          </a:p>
        </p:txBody>
      </p:sp>
      <p:sp>
        <p:nvSpPr>
          <p:cNvPr id="33" name="Shape 30"/>
          <p:cNvSpPr>
            <a:spLocks/>
          </p:cNvSpPr>
          <p:nvPr/>
        </p:nvSpPr>
        <p:spPr>
          <a:xfrm>
            <a:off x="6492240" y="2651760"/>
            <a:ext cx="1683868" cy="1325880"/>
          </a:xfrm>
          <a:prstGeom prst="line">
            <a:avLst/>
          </a:prstGeom>
          <a:noFill/>
          <a:ln w="19050">
            <a:solidFill>
              <a:srgbClr val="166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>
            <a:spLocks/>
          </p:cNvSpPr>
          <p:nvPr/>
        </p:nvSpPr>
        <p:spPr>
          <a:xfrm>
            <a:off x="6492240" y="3429000"/>
            <a:ext cx="1683868" cy="548640"/>
          </a:xfrm>
          <a:prstGeom prst="line">
            <a:avLst/>
          </a:prstGeom>
          <a:noFill/>
          <a:ln w="19050">
            <a:solidFill>
              <a:srgbClr val="166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 flipV="1">
            <a:off x="6492240" y="3977640"/>
            <a:ext cx="1683868" cy="228600"/>
          </a:xfrm>
          <a:prstGeom prst="line">
            <a:avLst/>
          </a:prstGeom>
          <a:noFill/>
          <a:ln w="19050">
            <a:solidFill>
              <a:srgbClr val="166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 flipV="1">
            <a:off x="6492240" y="3977640"/>
            <a:ext cx="1683868" cy="1005840"/>
          </a:xfrm>
          <a:prstGeom prst="line">
            <a:avLst/>
          </a:prstGeom>
          <a:noFill/>
          <a:ln w="19050">
            <a:solidFill>
              <a:srgbClr val="1668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949440" y="521208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B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여러 분석 결과를 하나의 그래프로 병합</a:t>
            </a:r>
            <a:endParaRPr lang="en-US" sz="1100" dirty="0"/>
          </a:p>
        </p:txBody>
      </p:sp>
      <p:sp>
        <p:nvSpPr>
          <p:cNvPr id="38" name="Text 35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9" name="Text 36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05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RESEARCH-INSPIRED DESIGN PRINCIPLES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Research-Inspired Design Principles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10820095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32104" y="219456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docsca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59" y="2261860"/>
            <a:ext cx="282113" cy="286024"/>
          </a:xfrm>
          <a:prstGeom prst="rect">
            <a:avLst/>
          </a:prstGeom>
        </p:spPr>
      </p:pic>
      <p:sp>
        <p:nvSpPr>
          <p:cNvPr id="9" name="Text 6"/>
          <p:cNvSpPr>
            <a:spLocks/>
          </p:cNvSpPr>
          <p:nvPr/>
        </p:nvSpPr>
        <p:spPr>
          <a:xfrm>
            <a:off x="1645920" y="210312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Editable source 기반 분석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35040" y="2103120"/>
            <a:ext cx="5333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PPTX / draw.io의 shape metadata를 우선 활용한다.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825496"/>
            <a:ext cx="10820095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832104" y="291693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graph icon"/>
          <p:cNvPicPr>
            <a:picLocks noChangeAspect="1"/>
          </p:cNvPicPr>
          <p:nvPr/>
        </p:nvPicPr>
        <p:blipFill>
          <a:blip r:embed="rId4"/>
          <a:srcRect l="1660" r="1660"/>
          <a:stretch>
            <a:fillRect/>
          </a:stretch>
        </p:blipFill>
        <p:spPr>
          <a:xfrm>
            <a:off x="899404" y="2984236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>
            <a:spLocks/>
          </p:cNvSpPr>
          <p:nvPr/>
        </p:nvSpPr>
        <p:spPr>
          <a:xfrm>
            <a:off x="1645920" y="282549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 layout parsing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035040" y="2825496"/>
            <a:ext cx="5333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문서 요소를 node / edge / container로 분해한다.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" y="3547872"/>
            <a:ext cx="10820095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832104" y="3639312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cod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404" y="3721695"/>
            <a:ext cx="286024" cy="255857"/>
          </a:xfrm>
          <a:prstGeom prst="rect">
            <a:avLst/>
          </a:prstGeom>
        </p:spPr>
      </p:pic>
      <p:sp>
        <p:nvSpPr>
          <p:cNvPr id="19" name="Text 14"/>
          <p:cNvSpPr>
            <a:spLocks/>
          </p:cNvSpPr>
          <p:nvPr/>
        </p:nvSpPr>
        <p:spPr>
          <a:xfrm>
            <a:off x="1645920" y="354787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UI-to-code / sketch-to-code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035040" y="3547872"/>
            <a:ext cx="5333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질문 기반 iterative refinement으로 정확도를 높인다.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85800" y="4270248"/>
            <a:ext cx="10820095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832104" y="4361688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aibrai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404" y="4458037"/>
            <a:ext cx="286024" cy="227925"/>
          </a:xfrm>
          <a:prstGeom prst="rect">
            <a:avLst/>
          </a:prstGeom>
        </p:spPr>
      </p:pic>
      <p:sp>
        <p:nvSpPr>
          <p:cNvPr id="24" name="Text 18"/>
          <p:cNvSpPr>
            <a:spLocks/>
          </p:cNvSpPr>
          <p:nvPr/>
        </p:nvSpPr>
        <p:spPr>
          <a:xfrm>
            <a:off x="1645920" y="427024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Chart / figure parsing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035040" y="4270248"/>
            <a:ext cx="5333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시각 요소와 관계를 구조화된 형태로 추출한다.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85800" y="4992624"/>
            <a:ext cx="10820095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32104" y="508406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layer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649" y="5151364"/>
            <a:ext cx="257533" cy="286024"/>
          </a:xfrm>
          <a:prstGeom prst="rect">
            <a:avLst/>
          </a:prstGeom>
        </p:spPr>
      </p:pic>
      <p:sp>
        <p:nvSpPr>
          <p:cNvPr id="29" name="Text 22"/>
          <p:cNvSpPr>
            <a:spLocks/>
          </p:cNvSpPr>
          <p:nvPr/>
        </p:nvSpPr>
        <p:spPr>
          <a:xfrm>
            <a:off x="1645920" y="499262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Self-ensemble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035040" y="4992624"/>
            <a:ext cx="5333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여러 번 추출 후 다수결·신뢰도로 병합한다.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85800" y="5760720"/>
            <a:ext cx="10820095" cy="566928"/>
          </a:xfrm>
          <a:prstGeom prst="roundRect">
            <a:avLst>
              <a:gd name="adj" fmla="val 14516"/>
            </a:avLst>
          </a:prstGeom>
          <a:solidFill>
            <a:srgbClr val="1235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960120" y="576072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정답은  </a:t>
            </a:r>
            <a:r>
              <a:rPr lang="en-US" sz="1300" i="1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“single-shot image captioning”</a:t>
            </a:r>
            <a:r>
              <a:rPr lang="en-US" sz="13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이 아니라  </a:t>
            </a:r>
            <a:r>
              <a:rPr lang="en-US" sz="13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“multi-pass structured extraction”</a:t>
            </a:r>
            <a:endParaRPr lang="en-US" sz="1300" dirty="0"/>
          </a:p>
        </p:txBody>
      </p:sp>
      <p:sp>
        <p:nvSpPr>
          <p:cNvPr id="33" name="Text 26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4" name="Text 27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06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EXTRACTOR LAYER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Multi-Extractor Layer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108200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extractor가 병렬로 동작하고, 결과는 Element Registry로 수집된다.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draw.io XML Par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35149"/>
            <a:ext cx="585216" cy="5234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48840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draw.io XML Parser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4832" y="2148840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owerPoint Shape Pars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136" y="2304288"/>
            <a:ext cx="577215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77792" y="2148840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PowerPoint Shape Parser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23864" y="2148840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DF Vector / Text Pars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168" y="2304288"/>
            <a:ext cx="577215" cy="585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6824" y="2148840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PDF Vector / Text Parser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992895" y="2148840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OCR Extra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199" y="2335149"/>
            <a:ext cx="585216" cy="5234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15855" y="2148840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OCR Extractor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300984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Azure Icon Classifier"/>
          <p:cNvPicPr>
            <a:picLocks noChangeAspect="1"/>
          </p:cNvPicPr>
          <p:nvPr/>
        </p:nvPicPr>
        <p:blipFill>
          <a:blip r:embed="rId5"/>
          <a:srcRect l="16113" r="16114"/>
          <a:stretch>
            <a:fillRect/>
          </a:stretch>
        </p:blipFill>
        <p:spPr>
          <a:xfrm>
            <a:off x="832104" y="3456432"/>
            <a:ext cx="585216" cy="58521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3300984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Icon Classifier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3454832" y="3300984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5" descr="Connector / Arrow Resolver"/>
          <p:cNvPicPr>
            <a:picLocks noChangeAspect="1"/>
          </p:cNvPicPr>
          <p:nvPr/>
        </p:nvPicPr>
        <p:blipFill>
          <a:blip r:embed="rId6"/>
          <a:srcRect l="1660" r="1660"/>
          <a:stretch>
            <a:fillRect/>
          </a:stretch>
        </p:blipFill>
        <p:spPr>
          <a:xfrm>
            <a:off x="3601136" y="3456432"/>
            <a:ext cx="585216" cy="58521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277792" y="3300984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Connector / Arrow Resolver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223864" y="3300984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6" descr="Container / Boundary Detect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9314" y="3456432"/>
            <a:ext cx="526923" cy="58521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46824" y="3300984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 / Boundary Detector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8992895" y="3300984"/>
            <a:ext cx="2513000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7" descr="VLM Semantic Extract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9199" y="3515868"/>
            <a:ext cx="585216" cy="466344"/>
          </a:xfrm>
          <a:prstGeom prst="rect">
            <a:avLst/>
          </a:prstGeom>
        </p:spPr>
      </p:pic>
      <p:sp>
        <p:nvSpPr>
          <p:cNvPr id="30" name="Text 20"/>
          <p:cNvSpPr>
            <a:spLocks/>
          </p:cNvSpPr>
          <p:nvPr/>
        </p:nvSpPr>
        <p:spPr>
          <a:xfrm>
            <a:off x="9815855" y="3300984"/>
            <a:ext cx="1598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VLM Semantic Extractor</a:t>
            </a:r>
            <a:endParaRPr lang="en-US" sz="1150" dirty="0"/>
          </a:p>
        </p:txBody>
      </p:sp>
      <p:sp>
        <p:nvSpPr>
          <p:cNvPr id="31" name="Shape 21"/>
          <p:cNvSpPr>
            <a:spLocks/>
          </p:cNvSpPr>
          <p:nvPr/>
        </p:nvSpPr>
        <p:spPr>
          <a:xfrm>
            <a:off x="3718408" y="4581144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1668B8"/>
          </a:solidFill>
          <a:ln w="15875">
            <a:solidFill>
              <a:srgbClr val="5BB4FF"/>
            </a:solidFill>
            <a:prstDash val="solid"/>
          </a:ln>
          <a:effectLst>
            <a:outerShdw blurRad="152400" dist="50800" dir="16200000" algn="bl" rotWithShape="0">
              <a:srgbClr val="0A3E7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/>
          <p:cNvSpPr>
            <a:spLocks/>
          </p:cNvSpPr>
          <p:nvPr/>
        </p:nvSpPr>
        <p:spPr>
          <a:xfrm>
            <a:off x="3718408" y="458114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↓  Element Registry 로 수집</a:t>
            </a:r>
            <a:endParaRPr lang="en-US" sz="1400" dirty="0"/>
          </a:p>
        </p:txBody>
      </p:sp>
      <p:sp>
        <p:nvSpPr>
          <p:cNvPr id="33" name="Text 23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4" name="Text 24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07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NORMALIZATION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모든 구성요소를 ID 기반 Registry로 정규화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0F2244"/>
          </a:solidFill>
          <a:ln w="12700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0120" y="2112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5F8F"/>
                </a:solidFill>
              </a:rPr>
              <a:t>● ● 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12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3272" y="2532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"elementId"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고유 식별자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33272" y="2916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"kind"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 / text / connector / container / legend / note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33272" y="3300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"label"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추출 텍스트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33272" y="3685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"bbox"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위치 좌표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33272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 evidence"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원본 출처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33272" y="4453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"confidence"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신뢰도 점수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33272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"parent container"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상위 영역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33272" y="52212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"Azure resource candidate"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후보 리소스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33272" y="5605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"deployability"</a:t>
            </a:r>
            <a:r>
              <a:rPr lang="en-US" sz="1150" dirty="0">
                <a:solidFill>
                  <a:srgbClr val="5F7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 </a:t>
            </a:r>
            <a:r>
              <a:rPr lang="en-US" sz="11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배포 가능 여부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1965960"/>
            <a:ext cx="5059375" cy="841248"/>
          </a:xfrm>
          <a:prstGeom prst="roundRect">
            <a:avLst>
              <a:gd name="adj" fmla="val 9783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46520" y="2112264"/>
            <a:ext cx="50292" cy="548640"/>
          </a:xfrm>
          <a:prstGeom prst="rect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66560" y="1965960"/>
            <a:ext cx="45107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8F0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각 요소는 증거·위치·신뢰도·배포 가능성을 가진 표준 객체로 정규화된다.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3063240"/>
            <a:ext cx="5059375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29400" y="320954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0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030" y="3306105"/>
            <a:ext cx="338245" cy="41038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3172968"/>
            <a:ext cx="3916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Single Source of Truth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406640" y="3483864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모든 Extractor의 출력이 하나의 Registry로 병합된다.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46520" y="4069080"/>
            <a:ext cx="5059375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629400" y="421538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1" descr="layer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400" y="4311945"/>
            <a:ext cx="369505" cy="410383"/>
          </a:xfrm>
          <a:prstGeom prst="rect">
            <a:avLst/>
          </a:prstGeom>
        </p:spPr>
      </p:pic>
      <p:sp>
        <p:nvSpPr>
          <p:cNvPr id="29" name="Text 25"/>
          <p:cNvSpPr>
            <a:spLocks/>
          </p:cNvSpPr>
          <p:nvPr/>
        </p:nvSpPr>
        <p:spPr>
          <a:xfrm>
            <a:off x="7406640" y="4178808"/>
            <a:ext cx="3916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신뢰도 기반 병합</a:t>
            </a:r>
            <a:endParaRPr lang="en-US" sz="1250" dirty="0"/>
          </a:p>
        </p:txBody>
      </p:sp>
      <p:sp>
        <p:nvSpPr>
          <p:cNvPr id="30" name="Text 26"/>
          <p:cNvSpPr>
            <a:spLocks/>
          </p:cNvSpPr>
          <p:nvPr/>
        </p:nvSpPr>
        <p:spPr>
          <a:xfrm>
            <a:off x="7406640" y="4489704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중복 요소는 confidence로 병합, 누락은 질문으로 분류한다.</a:t>
            </a:r>
            <a:endParaRPr lang="en-US" sz="1050" dirty="0"/>
          </a:p>
        </p:txBody>
      </p:sp>
      <p:sp>
        <p:nvSpPr>
          <p:cNvPr id="31" name="Shape 27"/>
          <p:cNvSpPr>
            <a:spLocks/>
          </p:cNvSpPr>
          <p:nvPr/>
        </p:nvSpPr>
        <p:spPr>
          <a:xfrm>
            <a:off x="6446520" y="5074920"/>
            <a:ext cx="5059375" cy="896112"/>
          </a:xfrm>
          <a:prstGeom prst="roundRect">
            <a:avLst>
              <a:gd name="adj" fmla="val 816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>
            <a:spLocks/>
          </p:cNvSpPr>
          <p:nvPr/>
        </p:nvSpPr>
        <p:spPr>
          <a:xfrm>
            <a:off x="6629400" y="5221224"/>
            <a:ext cx="603504" cy="603504"/>
          </a:xfrm>
          <a:prstGeom prst="roundRect">
            <a:avLst>
              <a:gd name="adj" fmla="val 10606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graph icon"/>
          <p:cNvPicPr>
            <a:picLocks noChangeAspect="1"/>
          </p:cNvPicPr>
          <p:nvPr/>
        </p:nvPicPr>
        <p:blipFill>
          <a:blip r:embed="rId5"/>
          <a:srcRect l="1660" r="1660"/>
          <a:stretch>
            <a:fillRect/>
          </a:stretch>
        </p:blipFill>
        <p:spPr>
          <a:xfrm>
            <a:off x="6725961" y="5317785"/>
            <a:ext cx="410383" cy="410383"/>
          </a:xfrm>
          <a:prstGeom prst="rect">
            <a:avLst/>
          </a:prstGeom>
        </p:spPr>
      </p:pic>
      <p:sp>
        <p:nvSpPr>
          <p:cNvPr id="34" name="Text 29"/>
          <p:cNvSpPr>
            <a:spLocks/>
          </p:cNvSpPr>
          <p:nvPr/>
        </p:nvSpPr>
        <p:spPr>
          <a:xfrm>
            <a:off x="7406640" y="5184648"/>
            <a:ext cx="3916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다운스트림 입력</a:t>
            </a:r>
            <a:endParaRPr lang="en-US" sz="1250" dirty="0"/>
          </a:p>
        </p:txBody>
      </p:sp>
      <p:sp>
        <p:nvSpPr>
          <p:cNvPr id="35" name="Text 30"/>
          <p:cNvSpPr>
            <a:spLocks/>
          </p:cNvSpPr>
          <p:nvPr/>
        </p:nvSpPr>
        <p:spPr>
          <a:xfrm>
            <a:off x="7406640" y="5495544"/>
            <a:ext cx="3916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Reconstruction·IaC Generator의 유일한 입력이 된다.</a:t>
            </a:r>
            <a:endParaRPr lang="en-US" sz="1050" dirty="0"/>
          </a:p>
        </p:txBody>
      </p:sp>
      <p:sp>
        <p:nvSpPr>
          <p:cNvPr id="36" name="Text 31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7" name="Text 32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08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GRAPH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구성도를 Architecture Graph로 복원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423818" cy="841248"/>
          </a:xfrm>
          <a:prstGeom prst="roundRect">
            <a:avLst>
              <a:gd name="adj" fmla="val 8696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86968" y="1965960"/>
            <a:ext cx="171190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도형 (Shape)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6186" y="2386584"/>
            <a:ext cx="310896" cy="0"/>
          </a:xfrm>
          <a:prstGeom prst="line">
            <a:avLst/>
          </a:prstGeom>
          <a:noFill/>
          <a:ln w="2222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72029" y="1965960"/>
            <a:ext cx="14375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3938" y="1965960"/>
            <a:ext cx="3423818" cy="841248"/>
          </a:xfrm>
          <a:prstGeom prst="roundRect">
            <a:avLst>
              <a:gd name="adj" fmla="val 8696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85106" y="1965960"/>
            <a:ext cx="171190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연결선 (Arrow)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4324" y="2386584"/>
            <a:ext cx="310896" cy="0"/>
          </a:xfrm>
          <a:prstGeom prst="line">
            <a:avLst/>
          </a:prstGeom>
          <a:noFill/>
          <a:ln w="2222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70168" y="1965960"/>
            <a:ext cx="14375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2077" y="1965960"/>
            <a:ext cx="3423818" cy="841248"/>
          </a:xfrm>
          <a:prstGeom prst="roundRect">
            <a:avLst>
              <a:gd name="adj" fmla="val 8696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83245" y="1965960"/>
            <a:ext cx="171190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영역 박스 (Boundary)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862462" y="2386584"/>
            <a:ext cx="310896" cy="0"/>
          </a:xfrm>
          <a:prstGeom prst="line">
            <a:avLst/>
          </a:prstGeom>
          <a:noFill/>
          <a:ln w="2222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68306" y="1965960"/>
            <a:ext cx="14375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Container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3423818" cy="841248"/>
          </a:xfrm>
          <a:prstGeom prst="roundRect">
            <a:avLst>
              <a:gd name="adj" fmla="val 8696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86968" y="3063240"/>
            <a:ext cx="171190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색상 / 선 스타일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66186" y="3483864"/>
            <a:ext cx="310896" cy="0"/>
          </a:xfrm>
          <a:prstGeom prst="line">
            <a:avLst/>
          </a:prstGeom>
          <a:noFill/>
          <a:ln w="2222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672029" y="3063240"/>
            <a:ext cx="14375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Semantic Hint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83938" y="3063240"/>
            <a:ext cx="3423818" cy="841248"/>
          </a:xfrm>
          <a:prstGeom prst="roundRect">
            <a:avLst>
              <a:gd name="adj" fmla="val 8696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85106" y="3063240"/>
            <a:ext cx="171190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위치 관계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64324" y="3483864"/>
            <a:ext cx="310896" cy="0"/>
          </a:xfrm>
          <a:prstGeom prst="line">
            <a:avLst/>
          </a:prstGeom>
          <a:noFill/>
          <a:ln w="2222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70168" y="3063240"/>
            <a:ext cx="14375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Dependency Hint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82077" y="3063240"/>
            <a:ext cx="3423818" cy="841248"/>
          </a:xfrm>
          <a:prstGeom prst="roundRect">
            <a:avLst>
              <a:gd name="adj" fmla="val 8696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283245" y="3063240"/>
            <a:ext cx="171190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Legend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862462" y="3483864"/>
            <a:ext cx="310896" cy="0"/>
          </a:xfrm>
          <a:prstGeom prst="line">
            <a:avLst/>
          </a:prstGeom>
          <a:noFill/>
          <a:ln w="22225">
            <a:solidFill>
              <a:srgbClr val="2E9BF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>
            <a:spLocks/>
          </p:cNvSpPr>
          <p:nvPr/>
        </p:nvSpPr>
        <p:spPr>
          <a:xfrm>
            <a:off x="10068306" y="3063240"/>
            <a:ext cx="143758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Flow Meaning</a:t>
            </a:r>
            <a:endParaRPr lang="en-US" sz="1250" dirty="0"/>
          </a:p>
        </p:txBody>
      </p:sp>
      <p:sp>
        <p:nvSpPr>
          <p:cNvPr id="30" name="Text 28"/>
          <p:cNvSpPr>
            <a:spLocks/>
          </p:cNvSpPr>
          <p:nvPr/>
        </p:nvSpPr>
        <p:spPr>
          <a:xfrm>
            <a:off x="685800" y="430682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예시 관계 흐름</a:t>
            </a:r>
            <a:endParaRPr lang="en-US" sz="1150" dirty="0"/>
          </a:p>
        </p:txBody>
      </p:sp>
      <p:sp>
        <p:nvSpPr>
          <p:cNvPr id="31" name="Shape 29"/>
          <p:cNvSpPr>
            <a:spLocks/>
          </p:cNvSpPr>
          <p:nvPr/>
        </p:nvSpPr>
        <p:spPr>
          <a:xfrm>
            <a:off x="685800" y="4672584"/>
            <a:ext cx="1681429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>
            <a:spLocks/>
          </p:cNvSpPr>
          <p:nvPr/>
        </p:nvSpPr>
        <p:spPr>
          <a:xfrm>
            <a:off x="713232" y="4672584"/>
            <a:ext cx="16265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External User</a:t>
            </a:r>
            <a:endParaRPr lang="en-US" sz="950" dirty="0"/>
          </a:p>
        </p:txBody>
      </p:sp>
      <p:sp>
        <p:nvSpPr>
          <p:cNvPr id="33" name="Shape 31"/>
          <p:cNvSpPr>
            <a:spLocks/>
          </p:cNvSpPr>
          <p:nvPr/>
        </p:nvSpPr>
        <p:spPr>
          <a:xfrm>
            <a:off x="2376373" y="4974336"/>
            <a:ext cx="128016" cy="0"/>
          </a:xfrm>
          <a:prstGeom prst="line">
            <a:avLst/>
          </a:prstGeom>
          <a:noFill/>
          <a:ln w="222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>
            <a:spLocks/>
          </p:cNvSpPr>
          <p:nvPr/>
        </p:nvSpPr>
        <p:spPr>
          <a:xfrm>
            <a:off x="2513533" y="4672584"/>
            <a:ext cx="1681429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>
            <a:spLocks/>
          </p:cNvSpPr>
          <p:nvPr/>
        </p:nvSpPr>
        <p:spPr>
          <a:xfrm>
            <a:off x="2540965" y="4672584"/>
            <a:ext cx="16265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Conditional Access</a:t>
            </a:r>
            <a:endParaRPr lang="en-US" sz="950" dirty="0"/>
          </a:p>
        </p:txBody>
      </p:sp>
      <p:sp>
        <p:nvSpPr>
          <p:cNvPr id="36" name="Shape 34"/>
          <p:cNvSpPr>
            <a:spLocks/>
          </p:cNvSpPr>
          <p:nvPr/>
        </p:nvSpPr>
        <p:spPr>
          <a:xfrm>
            <a:off x="4204106" y="4974336"/>
            <a:ext cx="128016" cy="0"/>
          </a:xfrm>
          <a:prstGeom prst="line">
            <a:avLst/>
          </a:prstGeom>
          <a:noFill/>
          <a:ln w="222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>
            <a:spLocks/>
          </p:cNvSpPr>
          <p:nvPr/>
        </p:nvSpPr>
        <p:spPr>
          <a:xfrm>
            <a:off x="4341266" y="4672584"/>
            <a:ext cx="1681429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>
            <a:spLocks/>
          </p:cNvSpPr>
          <p:nvPr/>
        </p:nvSpPr>
        <p:spPr>
          <a:xfrm>
            <a:off x="4368698" y="4672584"/>
            <a:ext cx="16265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AVD Service</a:t>
            </a:r>
            <a:endParaRPr lang="en-US" sz="950" dirty="0"/>
          </a:p>
        </p:txBody>
      </p:sp>
      <p:sp>
        <p:nvSpPr>
          <p:cNvPr id="39" name="Shape 37"/>
          <p:cNvSpPr>
            <a:spLocks/>
          </p:cNvSpPr>
          <p:nvPr/>
        </p:nvSpPr>
        <p:spPr>
          <a:xfrm>
            <a:off x="6031840" y="4974336"/>
            <a:ext cx="128016" cy="0"/>
          </a:xfrm>
          <a:prstGeom prst="line">
            <a:avLst/>
          </a:prstGeom>
          <a:noFill/>
          <a:ln w="222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>
            <a:spLocks/>
          </p:cNvSpPr>
          <p:nvPr/>
        </p:nvSpPr>
        <p:spPr>
          <a:xfrm>
            <a:off x="6169000" y="4672584"/>
            <a:ext cx="1681429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>
            <a:spLocks/>
          </p:cNvSpPr>
          <p:nvPr/>
        </p:nvSpPr>
        <p:spPr>
          <a:xfrm>
            <a:off x="6196432" y="4672584"/>
            <a:ext cx="16265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Host Pool</a:t>
            </a:r>
            <a:endParaRPr lang="en-US" sz="950" dirty="0"/>
          </a:p>
        </p:txBody>
      </p:sp>
      <p:sp>
        <p:nvSpPr>
          <p:cNvPr id="42" name="Shape 40"/>
          <p:cNvSpPr>
            <a:spLocks/>
          </p:cNvSpPr>
          <p:nvPr/>
        </p:nvSpPr>
        <p:spPr>
          <a:xfrm>
            <a:off x="7859573" y="4974336"/>
            <a:ext cx="128016" cy="0"/>
          </a:xfrm>
          <a:prstGeom prst="line">
            <a:avLst/>
          </a:prstGeom>
          <a:noFill/>
          <a:ln w="222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>
            <a:spLocks/>
          </p:cNvSpPr>
          <p:nvPr/>
        </p:nvSpPr>
        <p:spPr>
          <a:xfrm>
            <a:off x="7996733" y="4672584"/>
            <a:ext cx="1681429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>
            <a:spLocks/>
          </p:cNvSpPr>
          <p:nvPr/>
        </p:nvSpPr>
        <p:spPr>
          <a:xfrm>
            <a:off x="8024165" y="4672584"/>
            <a:ext cx="16265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Firewall</a:t>
            </a:r>
            <a:endParaRPr lang="en-US" sz="950" dirty="0"/>
          </a:p>
        </p:txBody>
      </p:sp>
      <p:sp>
        <p:nvSpPr>
          <p:cNvPr id="45" name="Shape 43"/>
          <p:cNvSpPr>
            <a:spLocks/>
          </p:cNvSpPr>
          <p:nvPr/>
        </p:nvSpPr>
        <p:spPr>
          <a:xfrm>
            <a:off x="9687306" y="4974336"/>
            <a:ext cx="128016" cy="0"/>
          </a:xfrm>
          <a:prstGeom prst="line">
            <a:avLst/>
          </a:prstGeom>
          <a:noFill/>
          <a:ln w="222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>
            <a:spLocks/>
          </p:cNvSpPr>
          <p:nvPr/>
        </p:nvSpPr>
        <p:spPr>
          <a:xfrm>
            <a:off x="9824466" y="4672584"/>
            <a:ext cx="1681429" cy="603504"/>
          </a:xfrm>
          <a:prstGeom prst="roundRect">
            <a:avLst>
              <a:gd name="adj" fmla="val 12121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>
            <a:spLocks/>
          </p:cNvSpPr>
          <p:nvPr/>
        </p:nvSpPr>
        <p:spPr>
          <a:xfrm>
            <a:off x="9851898" y="4672584"/>
            <a:ext cx="162656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Internal Servers</a:t>
            </a:r>
            <a:endParaRPr lang="en-US" sz="950" dirty="0"/>
          </a:p>
        </p:txBody>
      </p:sp>
      <p:sp>
        <p:nvSpPr>
          <p:cNvPr id="48" name="Text 46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49" name="Text 47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09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INTERMEDIATE REPRESENTATION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IaC 생성을 위한 중간 표현 (Architecture IR)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943600" cy="4023360"/>
          </a:xfrm>
          <a:prstGeom prst="roundRect">
            <a:avLst>
              <a:gd name="adj" fmla="val 1818"/>
            </a:avLst>
          </a:prstGeom>
          <a:solidFill>
            <a:srgbClr val="0F2244"/>
          </a:solidFill>
          <a:ln w="12700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architecture.ir.json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1560" y="2724912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89304" y="26243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3086100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9304" y="29855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51560" y="3447288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89304" y="33467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51560" y="3808476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89304" y="37078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securityControls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51560" y="4169664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289304" y="40690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existingResources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4530852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89304" y="44302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manualControls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51560" y="4892040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89304" y="47914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51560" y="5253228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89304" y="51526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51560" y="5614416"/>
            <a:ext cx="109728" cy="109728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289304" y="55138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flipV="1">
            <a:off x="6675120" y="2971800"/>
            <a:ext cx="502920" cy="1051560"/>
          </a:xfrm>
          <a:prstGeom prst="line">
            <a:avLst/>
          </a:prstGeom>
          <a:noFill/>
          <a:ln w="2857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675120" y="4023360"/>
            <a:ext cx="502920" cy="1051560"/>
          </a:xfrm>
          <a:prstGeom prst="line">
            <a:avLst/>
          </a:prstGeom>
          <a:noFill/>
          <a:ln w="2857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58000" y="2331720"/>
            <a:ext cx="4647895" cy="1554480"/>
          </a:xfrm>
          <a:prstGeom prst="roundRect">
            <a:avLst>
              <a:gd name="adj" fmla="val 4706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>
            <a:spLocks/>
          </p:cNvSpPr>
          <p:nvPr/>
        </p:nvSpPr>
        <p:spPr>
          <a:xfrm>
            <a:off x="7114032" y="2724912"/>
            <a:ext cx="768096" cy="768096"/>
          </a:xfrm>
          <a:prstGeom prst="roundRect">
            <a:avLst>
              <a:gd name="adj" fmla="val 8333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0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927" y="2875350"/>
            <a:ext cx="522305" cy="467218"/>
          </a:xfrm>
          <a:prstGeom prst="rect">
            <a:avLst/>
          </a:prstGeom>
        </p:spPr>
      </p:pic>
      <p:sp>
        <p:nvSpPr>
          <p:cNvPr id="31" name="Text 28"/>
          <p:cNvSpPr>
            <a:spLocks/>
          </p:cNvSpPr>
          <p:nvPr/>
        </p:nvSpPr>
        <p:spPr>
          <a:xfrm>
            <a:off x="8046720" y="262432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Bicep</a:t>
            </a:r>
            <a:endParaRPr lang="en-US" sz="1900" dirty="0"/>
          </a:p>
        </p:txBody>
      </p:sp>
      <p:sp>
        <p:nvSpPr>
          <p:cNvPr id="32" name="Text 29"/>
          <p:cNvSpPr>
            <a:spLocks/>
          </p:cNvSpPr>
          <p:nvPr/>
        </p:nvSpPr>
        <p:spPr>
          <a:xfrm>
            <a:off x="8046720" y="315468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네이티브 IaC</a:t>
            </a:r>
            <a:endParaRPr lang="en-US" sz="1200" dirty="0"/>
          </a:p>
        </p:txBody>
      </p:sp>
      <p:sp>
        <p:nvSpPr>
          <p:cNvPr id="33" name="Shape 30"/>
          <p:cNvSpPr>
            <a:spLocks/>
          </p:cNvSpPr>
          <p:nvPr/>
        </p:nvSpPr>
        <p:spPr>
          <a:xfrm>
            <a:off x="6858000" y="4160520"/>
            <a:ext cx="4647895" cy="1554480"/>
          </a:xfrm>
          <a:prstGeom prst="roundRect">
            <a:avLst>
              <a:gd name="adj" fmla="val 4706"/>
            </a:avLst>
          </a:prstGeom>
          <a:solidFill>
            <a:srgbClr val="12294C"/>
          </a:solidFill>
          <a:ln w="12700">
            <a:solidFill>
              <a:srgbClr val="5BB4F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>
            <a:spLocks/>
          </p:cNvSpPr>
          <p:nvPr/>
        </p:nvSpPr>
        <p:spPr>
          <a:xfrm>
            <a:off x="7114032" y="4553712"/>
            <a:ext cx="768096" cy="768096"/>
          </a:xfrm>
          <a:prstGeom prst="roundRect">
            <a:avLst>
              <a:gd name="adj" fmla="val 8333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1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927" y="4704150"/>
            <a:ext cx="522305" cy="467218"/>
          </a:xfrm>
          <a:prstGeom prst="rect">
            <a:avLst/>
          </a:prstGeom>
        </p:spPr>
      </p:pic>
      <p:sp>
        <p:nvSpPr>
          <p:cNvPr id="36" name="Text 32"/>
          <p:cNvSpPr>
            <a:spLocks/>
          </p:cNvSpPr>
          <p:nvPr/>
        </p:nvSpPr>
        <p:spPr>
          <a:xfrm>
            <a:off x="8046720" y="4453128"/>
            <a:ext cx="3276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Terraform</a:t>
            </a:r>
            <a:endParaRPr lang="en-US" sz="1900" dirty="0"/>
          </a:p>
        </p:txBody>
      </p:sp>
      <p:sp>
        <p:nvSpPr>
          <p:cNvPr id="37" name="Text 33"/>
          <p:cNvSpPr>
            <a:spLocks/>
          </p:cNvSpPr>
          <p:nvPr/>
        </p:nvSpPr>
        <p:spPr>
          <a:xfrm>
            <a:off x="8046720" y="498348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멀티 클라우드 IaC</a:t>
            </a:r>
            <a:endParaRPr lang="en-US" sz="1200" dirty="0"/>
          </a:p>
        </p:txBody>
      </p:sp>
      <p:sp>
        <p:nvSpPr>
          <p:cNvPr id="38" name="Text 34"/>
          <p:cNvSpPr>
            <a:spLocks/>
          </p:cNvSpPr>
          <p:nvPr/>
        </p:nvSpPr>
        <p:spPr>
          <a:xfrm>
            <a:off x="6858000" y="5943600"/>
            <a:ext cx="4647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B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IR → 두 개의 코드 브랜치</a:t>
            </a:r>
            <a:endParaRPr lang="en-US" sz="1100" dirty="0"/>
          </a:p>
        </p:txBody>
      </p:sp>
      <p:sp>
        <p:nvSpPr>
          <p:cNvPr id="39" name="Text 35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40" name="Text 36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10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QUESTION MODEL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누락 정보는 억지 추론하지 않고 질문으로 관리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499284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F2554A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2499284" cy="91440"/>
          </a:xfrm>
          <a:prstGeom prst="rect">
            <a:avLst/>
          </a:prstGeom>
          <a:solidFill>
            <a:srgbClr val="F255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905256" y="226771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Blocker</a:t>
            </a:r>
            <a:endParaRPr lang="en-US" sz="1600" dirty="0"/>
          </a:p>
        </p:txBody>
      </p:sp>
      <p:sp>
        <p:nvSpPr>
          <p:cNvPr id="9" name="Text 7"/>
          <p:cNvSpPr>
            <a:spLocks/>
          </p:cNvSpPr>
          <p:nvPr/>
        </p:nvSpPr>
        <p:spPr>
          <a:xfrm>
            <a:off x="905256" y="2761488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없으면 코드 생성 불가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59404" y="2011680"/>
            <a:ext cx="2499284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F2B441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59404" y="2011680"/>
            <a:ext cx="2499284" cy="91440"/>
          </a:xfrm>
          <a:prstGeom prst="rect">
            <a:avLst/>
          </a:prstGeom>
          <a:solidFill>
            <a:srgbClr val="F2B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78860" y="226771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</a:t>
            </a:r>
            <a:endParaRPr lang="en-US" sz="1600" dirty="0"/>
          </a:p>
        </p:txBody>
      </p:sp>
      <p:sp>
        <p:nvSpPr>
          <p:cNvPr id="13" name="Text 11"/>
          <p:cNvSpPr>
            <a:spLocks/>
          </p:cNvSpPr>
          <p:nvPr/>
        </p:nvSpPr>
        <p:spPr>
          <a:xfrm>
            <a:off x="3678860" y="2761488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기본값 가능하나 검토 필요</a:t>
            </a:r>
            <a:endParaRPr lang="en-US" sz="115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>
            <a:off x="6233008" y="2011680"/>
            <a:ext cx="2499284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3DD68C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33008" y="2011680"/>
            <a:ext cx="2499284" cy="914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52464" y="226771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Optional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2464" y="2761488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품질 개선용</a:t>
            </a:r>
            <a:endParaRPr lang="en-US" sz="1150" dirty="0"/>
          </a:p>
        </p:txBody>
      </p:sp>
      <p:sp>
        <p:nvSpPr>
          <p:cNvPr id="18" name="Shape 16"/>
          <p:cNvSpPr>
            <a:spLocks/>
          </p:cNvSpPr>
          <p:nvPr/>
        </p:nvSpPr>
        <p:spPr>
          <a:xfrm>
            <a:off x="9006611" y="2011680"/>
            <a:ext cx="2499284" cy="1371600"/>
          </a:xfrm>
          <a:prstGeom prst="roundRect">
            <a:avLst>
              <a:gd name="adj" fmla="val 5333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>
            <a:spLocks/>
          </p:cNvSpPr>
          <p:nvPr/>
        </p:nvSpPr>
        <p:spPr>
          <a:xfrm>
            <a:off x="9006611" y="2011680"/>
            <a:ext cx="2499284" cy="91440"/>
          </a:xfrm>
          <a:prstGeom prst="rect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226067" y="2267712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Manual Control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26067" y="2761488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/ API / 수동 운영 분류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9BF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예시 질문</a:t>
            </a:r>
            <a:endParaRPr lang="en-US" sz="1200" dirty="0"/>
          </a:p>
        </p:txBody>
      </p:sp>
      <p:sp>
        <p:nvSpPr>
          <p:cNvPr id="23" name="Shape 21"/>
          <p:cNvSpPr>
            <a:spLocks/>
          </p:cNvSpPr>
          <p:nvPr/>
        </p:nvSpPr>
        <p:spPr>
          <a:xfrm>
            <a:off x="685800" y="4069080"/>
            <a:ext cx="5336896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0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54" y="4151376"/>
            <a:ext cx="396835" cy="40233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44168" y="4069080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배포 리전은 Korea Central 인가?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69000" y="4069080"/>
            <a:ext cx="5336896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054" y="4151376"/>
            <a:ext cx="396835" cy="402336"/>
          </a:xfrm>
          <a:prstGeom prst="rect">
            <a:avLst/>
          </a:prstGeom>
        </p:spPr>
      </p:pic>
      <p:sp>
        <p:nvSpPr>
          <p:cNvPr id="28" name="Text 24"/>
          <p:cNvSpPr>
            <a:spLocks/>
          </p:cNvSpPr>
          <p:nvPr/>
        </p:nvSpPr>
        <p:spPr>
          <a:xfrm>
            <a:off x="6827368" y="4069080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VNet CIDR은 무엇인가?</a:t>
            </a:r>
            <a:endParaRPr lang="en-US" sz="1250" dirty="0"/>
          </a:p>
        </p:txBody>
      </p:sp>
      <p:sp>
        <p:nvSpPr>
          <p:cNvPr id="29" name="Shape 25"/>
          <p:cNvSpPr>
            <a:spLocks/>
          </p:cNvSpPr>
          <p:nvPr/>
        </p:nvSpPr>
        <p:spPr>
          <a:xfrm>
            <a:off x="685800" y="4782312"/>
            <a:ext cx="5336896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2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54" y="4864608"/>
            <a:ext cx="396835" cy="40233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44168" y="4782312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Firewall SKU는 Standard 인가?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169000" y="4782312"/>
            <a:ext cx="5336896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3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054" y="4864608"/>
            <a:ext cx="396835" cy="402336"/>
          </a:xfrm>
          <a:prstGeom prst="rect">
            <a:avLst/>
          </a:prstGeom>
        </p:spPr>
      </p:pic>
      <p:sp>
        <p:nvSpPr>
          <p:cNvPr id="34" name="Text 28"/>
          <p:cNvSpPr>
            <a:spLocks/>
          </p:cNvSpPr>
          <p:nvPr/>
        </p:nvSpPr>
        <p:spPr>
          <a:xfrm>
            <a:off x="6827368" y="4782312"/>
            <a:ext cx="451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Access는 자동화할 것인가?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11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CODE GENERATION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 기반 Bicep / Terraform 동시 생성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  <a:effectLst>
            <a:outerShdw blurRad="152400" dist="50800" dir="16200000" algn="bl" rotWithShape="0">
              <a:srgbClr val="0A3E78">
                <a:alpha val="5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</a:t>
            </a:r>
            <a:endParaRPr lang="en-US" sz="1600" dirty="0"/>
          </a:p>
        </p:txBody>
      </p:sp>
      <p:sp>
        <p:nvSpPr>
          <p:cNvPr id="8" name="Shape 6"/>
          <p:cNvSpPr>
            <a:spLocks/>
          </p:cNvSpPr>
          <p:nvPr/>
        </p:nvSpPr>
        <p:spPr>
          <a:xfrm flipV="1">
            <a:off x="3017520" y="2834640"/>
            <a:ext cx="960120" cy="640080"/>
          </a:xfrm>
          <a:prstGeom prst="line">
            <a:avLst/>
          </a:prstGeom>
          <a:noFill/>
          <a:ln w="2857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>
            <a:spLocks/>
          </p:cNvSpPr>
          <p:nvPr/>
        </p:nvSpPr>
        <p:spPr>
          <a:xfrm>
            <a:off x="3017520" y="3474720"/>
            <a:ext cx="960120" cy="1600200"/>
          </a:xfrm>
          <a:prstGeom prst="line">
            <a:avLst/>
          </a:prstGeom>
          <a:noFill/>
          <a:ln w="2857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023360" y="1920240"/>
            <a:ext cx="7482535" cy="1828800"/>
          </a:xfrm>
          <a:prstGeom prst="roundRect">
            <a:avLst>
              <a:gd name="adj" fmla="val 4000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731520" cy="731520"/>
          </a:xfrm>
          <a:prstGeom prst="roundRect">
            <a:avLst>
              <a:gd name="adj" fmla="val 8750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723" y="2337835"/>
            <a:ext cx="497434" cy="444970"/>
          </a:xfrm>
          <a:prstGeom prst="rect">
            <a:avLst/>
          </a:prstGeom>
        </p:spPr>
      </p:pic>
      <p:sp>
        <p:nvSpPr>
          <p:cNvPr id="13" name="Text 10"/>
          <p:cNvSpPr>
            <a:spLocks/>
          </p:cNvSpPr>
          <p:nvPr/>
        </p:nvSpPr>
        <p:spPr>
          <a:xfrm>
            <a:off x="5193792" y="2176272"/>
            <a:ext cx="6110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 → Bicep emitter</a:t>
            </a:r>
            <a:endParaRPr lang="en-US" sz="1600" dirty="0"/>
          </a:p>
        </p:txBody>
      </p:sp>
      <p:sp>
        <p:nvSpPr>
          <p:cNvPr id="14" name="Text 11"/>
          <p:cNvSpPr>
            <a:spLocks/>
          </p:cNvSpPr>
          <p:nvPr/>
        </p:nvSpPr>
        <p:spPr>
          <a:xfrm>
            <a:off x="5193792" y="2706624"/>
            <a:ext cx="6110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Bicep으로 시작 후 AVM 모듈 기반으로 확장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네이티브 배포에 최적화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4160520"/>
            <a:ext cx="7482535" cy="1828800"/>
          </a:xfrm>
          <a:prstGeom prst="roundRect">
            <a:avLst>
              <a:gd name="adj" fmla="val 4000"/>
            </a:avLst>
          </a:prstGeom>
          <a:solidFill>
            <a:srgbClr val="12294C"/>
          </a:solidFill>
          <a:ln w="12700">
            <a:solidFill>
              <a:srgbClr val="5BB4F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297680" y="4434840"/>
            <a:ext cx="731520" cy="731520"/>
          </a:xfrm>
          <a:prstGeom prst="roundRect">
            <a:avLst>
              <a:gd name="adj" fmla="val 8750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723" y="4578115"/>
            <a:ext cx="497434" cy="444970"/>
          </a:xfrm>
          <a:prstGeom prst="rect">
            <a:avLst/>
          </a:prstGeom>
        </p:spPr>
      </p:pic>
      <p:sp>
        <p:nvSpPr>
          <p:cNvPr id="18" name="Text 14"/>
          <p:cNvSpPr>
            <a:spLocks/>
          </p:cNvSpPr>
          <p:nvPr/>
        </p:nvSpPr>
        <p:spPr>
          <a:xfrm>
            <a:off x="5193792" y="4416552"/>
            <a:ext cx="6110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IR → Terraform emitter</a:t>
            </a:r>
            <a:endParaRPr lang="en-US" sz="1600" dirty="0"/>
          </a:p>
        </p:txBody>
      </p:sp>
      <p:sp>
        <p:nvSpPr>
          <p:cNvPr id="19" name="Text 15"/>
          <p:cNvSpPr>
            <a:spLocks/>
          </p:cNvSpPr>
          <p:nvPr/>
        </p:nvSpPr>
        <p:spPr>
          <a:xfrm>
            <a:off x="5193792" y="4946904"/>
            <a:ext cx="6110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2단계 지원으로 점진적 확장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멀티 클라우드·하이브리드 대응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85800" y="4709160"/>
            <a:ext cx="2286000" cy="841248"/>
          </a:xfrm>
          <a:prstGeom prst="roundRect">
            <a:avLst>
              <a:gd name="adj" fmla="val 9783"/>
            </a:avLst>
          </a:prstGeom>
          <a:solidFill>
            <a:srgbClr val="12294C"/>
          </a:solidFill>
          <a:ln w="12700">
            <a:solidFill>
              <a:srgbClr val="F2B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85800" y="4855464"/>
            <a:ext cx="50292" cy="548640"/>
          </a:xfrm>
          <a:prstGeom prst="rect">
            <a:avLst/>
          </a:prstGeom>
          <a:solidFill>
            <a:srgbClr val="F2B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1005840" y="470916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E8F0F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Bicep ↔ Terraform 직접 변환은 지양</a:t>
            </a:r>
            <a:endParaRPr lang="en-US" sz="1500" dirty="0"/>
          </a:p>
        </p:txBody>
      </p:sp>
      <p:sp>
        <p:nvSpPr>
          <p:cNvPr id="23" name="Text 19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24" name="Text 20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12 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Ellips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Bg Ellips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ection Badge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1250" kern="0" spc="30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DESIGN SPECIFICATION</a:t>
            </a:r>
            <a:endParaRPr lang="en-US" sz="1250"/>
          </a:p>
        </p:txBody>
      </p:sp>
      <p:sp>
        <p:nvSpPr>
          <p:cNvPr id="5" name="Title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29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코드와 함께 구성도 상세 정의서 자동 산출</a:t>
            </a:r>
            <a:endParaRPr lang="en-US" sz="2900"/>
          </a:p>
        </p:txBody>
      </p:sp>
      <p:sp>
        <p:nvSpPr>
          <p:cNvPr id="6" name="Subtitle"/>
          <p:cNvSpPr/>
          <p:nvPr/>
        </p:nvSpPr>
        <p:spPr>
          <a:xfrm>
            <a:off x="685800" y="1445000"/>
            <a:ext cx="10820095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IaC 코드로 끝내지 않고, 사람이 검토·승인하는 상세 정의서를 표준 Report 형식으로 함께 생성한다.</a:t>
            </a:r>
            <a:endParaRPr lang="en-US" sz="1200"/>
          </a:p>
        </p:txBody>
      </p:sp>
      <p:sp>
        <p:nvSpPr>
          <p:cNvPr id="7" name="Doc Panel"/>
          <p:cNvSpPr/>
          <p:nvPr/>
        </p:nvSpPr>
        <p:spPr>
          <a:xfrm>
            <a:off x="685800" y="2011680"/>
            <a:ext cx="5227168" cy="3063240"/>
          </a:xfrm>
          <a:prstGeom prst="roundRect">
            <a:avLst>
              <a:gd name="adj" fmla="val 2388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Doc Header"/>
          <p:cNvSpPr/>
          <p:nvPr/>
        </p:nvSpPr>
        <p:spPr>
          <a:xfrm>
            <a:off x="960120" y="2160000"/>
            <a:ext cx="4678528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구성도 상세 정의서</a:t>
            </a:r>
            <a:endParaRPr lang="en-US" sz="1500"/>
          </a:p>
        </p:txBody>
      </p:sp>
      <p:sp>
        <p:nvSpPr>
          <p:cNvPr id="9" name="Doc Sub"/>
          <p:cNvSpPr/>
          <p:nvPr/>
        </p:nvSpPr>
        <p:spPr>
          <a:xfrm>
            <a:off x="960120" y="2500000"/>
            <a:ext cx="46785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architecture-spec.md  ·  문서 목차 (Table of Contents)</a:t>
            </a:r>
            <a:endParaRPr lang="en-US" sz="1050"/>
          </a:p>
        </p:txBody>
      </p:sp>
      <p:sp>
        <p:nvSpPr>
          <p:cNvPr id="10" name="TOC 1"/>
          <p:cNvSpPr/>
          <p:nvPr/>
        </p:nvSpPr>
        <p:spPr>
          <a:xfrm>
            <a:off x="960120" y="2820000"/>
            <a:ext cx="4678528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 </a:t>
            </a:r>
            <a:r>
              <a:rPr lang="ko-KR" altLang="en-US" sz="120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개요 · 적용 범위</a:t>
            </a:r>
            <a:endParaRPr lang="en-US" sz="1200"/>
          </a:p>
        </p:txBody>
      </p:sp>
      <p:sp>
        <p:nvSpPr>
          <p:cNvPr id="11" name="TOC 2"/>
          <p:cNvSpPr/>
          <p:nvPr/>
        </p:nvSpPr>
        <p:spPr>
          <a:xfrm>
            <a:off x="960120" y="3180000"/>
            <a:ext cx="4678528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 </a:t>
            </a:r>
            <a:r>
              <a:rPr lang="ko-KR" altLang="en-US" sz="120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리소스 상세 명세 (SKU · 리전 · 태그)</a:t>
            </a:r>
            <a:endParaRPr lang="en-US" sz="1200"/>
          </a:p>
        </p:txBody>
      </p:sp>
      <p:sp>
        <p:nvSpPr>
          <p:cNvPr id="12" name="TOC 3"/>
          <p:cNvSpPr/>
          <p:nvPr/>
        </p:nvSpPr>
        <p:spPr>
          <a:xfrm>
            <a:off x="960120" y="3540000"/>
            <a:ext cx="4678528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</a:t>
            </a:r>
            <a:r>
              <a:rPr lang="ko-KR" altLang="en-US" sz="120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네트워크 · 연결 구성 (VNet · 경로)</a:t>
            </a:r>
            <a:endParaRPr lang="en-US" sz="1200"/>
          </a:p>
        </p:txBody>
      </p:sp>
      <p:sp>
        <p:nvSpPr>
          <p:cNvPr id="13" name="TOC 4"/>
          <p:cNvSpPr/>
          <p:nvPr/>
        </p:nvSpPr>
        <p:spPr>
          <a:xfrm>
            <a:off x="960120" y="3900000"/>
            <a:ext cx="4678528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</a:t>
            </a:r>
            <a:r>
              <a:rPr lang="ko-KR" alt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보안 · 컴플라이언스 경계</a:t>
            </a:r>
            <a:endParaRPr lang="en-US" sz="1200" dirty="0"/>
          </a:p>
        </p:txBody>
      </p:sp>
      <p:sp>
        <p:nvSpPr>
          <p:cNvPr id="14" name="TOC 5"/>
          <p:cNvSpPr/>
          <p:nvPr/>
        </p:nvSpPr>
        <p:spPr>
          <a:xfrm>
            <a:off x="960120" y="4260000"/>
            <a:ext cx="4678528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</a:t>
            </a:r>
            <a:r>
              <a:rPr lang="ko-KR" altLang="en-US" sz="120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운영 · 거버넌스 (모니터링 · PIM)</a:t>
            </a:r>
            <a:endParaRPr lang="en-US" sz="1200"/>
          </a:p>
        </p:txBody>
      </p:sp>
      <p:sp>
        <p:nvSpPr>
          <p:cNvPr id="15" name="TOC 6"/>
          <p:cNvSpPr/>
          <p:nvPr/>
        </p:nvSpPr>
        <p:spPr>
          <a:xfrm>
            <a:off x="960120" y="4620000"/>
            <a:ext cx="4678528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E9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</a:t>
            </a:r>
            <a:r>
              <a:rPr lang="ko-KR" altLang="en-US" sz="120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부록: 가정 · 미해결 질문</a:t>
            </a:r>
            <a:endParaRPr lang="en-US" sz="1200"/>
          </a:p>
        </p:txBody>
      </p:sp>
      <p:sp>
        <p:nvSpPr>
          <p:cNvPr id="16" name="Card A"/>
          <p:cNvSpPr/>
          <p:nvPr/>
        </p:nvSpPr>
        <p:spPr>
          <a:xfrm>
            <a:off x="6278728" y="2011680"/>
            <a:ext cx="5227168" cy="940000"/>
          </a:xfrm>
          <a:prstGeom prst="roundRect">
            <a:avLst>
              <a:gd name="adj" fmla="val 7000"/>
            </a:avLst>
          </a:prstGeom>
          <a:solidFill>
            <a:srgbClr val="12294C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ard A Chip"/>
          <p:cNvSpPr/>
          <p:nvPr/>
        </p:nvSpPr>
        <p:spPr>
          <a:xfrm>
            <a:off x="6553048" y="2251680"/>
            <a:ext cx="500000" cy="460000"/>
          </a:xfrm>
          <a:prstGeom prst="roundRect">
            <a:avLst>
              <a:gd name="adj" fmla="val 18000"/>
            </a:avLst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1400"/>
          </a:p>
        </p:txBody>
      </p:sp>
      <p:sp>
        <p:nvSpPr>
          <p:cNvPr id="18" name="Card A Head"/>
          <p:cNvSpPr/>
          <p:nvPr/>
        </p:nvSpPr>
        <p:spPr>
          <a:xfrm>
            <a:off x="7233048" y="2161680"/>
            <a:ext cx="399384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IR 기반 자동 채움</a:t>
            </a:r>
            <a:endParaRPr lang="en-US" sz="1300"/>
          </a:p>
        </p:txBody>
      </p:sp>
      <p:sp>
        <p:nvSpPr>
          <p:cNvPr id="19" name="Card A Body"/>
          <p:cNvSpPr/>
          <p:nvPr/>
        </p:nvSpPr>
        <p:spPr>
          <a:xfrm>
            <a:off x="7233048" y="2481680"/>
            <a:ext cx="399384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>
                <a:solidFill>
                  <a:srgbClr val="AFC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· relationships · securityControls · questions를 표와 다이어그램으로 렌더링</a:t>
            </a:r>
            <a:endParaRPr lang="en-US" sz="1050"/>
          </a:p>
        </p:txBody>
      </p:sp>
      <p:sp>
        <p:nvSpPr>
          <p:cNvPr id="20" name="Card B"/>
          <p:cNvSpPr/>
          <p:nvPr/>
        </p:nvSpPr>
        <p:spPr>
          <a:xfrm>
            <a:off x="6278728" y="3071680"/>
            <a:ext cx="5227168" cy="940000"/>
          </a:xfrm>
          <a:prstGeom prst="roundRect">
            <a:avLst>
              <a:gd name="adj" fmla="val 7000"/>
            </a:avLst>
          </a:prstGeom>
          <a:solidFill>
            <a:srgbClr val="12294C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Card B Chip"/>
          <p:cNvSpPr/>
          <p:nvPr/>
        </p:nvSpPr>
        <p:spPr>
          <a:xfrm>
            <a:off x="6553048" y="3311680"/>
            <a:ext cx="500000" cy="460000"/>
          </a:xfrm>
          <a:prstGeom prst="roundRect">
            <a:avLst>
              <a:gd name="adj" fmla="val 18000"/>
            </a:avLst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1400"/>
          </a:p>
        </p:txBody>
      </p:sp>
      <p:sp>
        <p:nvSpPr>
          <p:cNvPr id="22" name="Card B Head"/>
          <p:cNvSpPr/>
          <p:nvPr/>
        </p:nvSpPr>
        <p:spPr>
          <a:xfrm>
            <a:off x="7233048" y="3221680"/>
            <a:ext cx="399384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양방향 추적성 (Traceability)</a:t>
            </a:r>
            <a:endParaRPr lang="en-US" sz="1300"/>
          </a:p>
        </p:txBody>
      </p:sp>
      <p:sp>
        <p:nvSpPr>
          <p:cNvPr id="23" name="Card B Body"/>
          <p:cNvSpPr/>
          <p:nvPr/>
        </p:nvSpPr>
        <p:spPr>
          <a:xfrm>
            <a:off x="7233048" y="3541680"/>
            <a:ext cx="399384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>
                <a:solidFill>
                  <a:srgbClr val="AFC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각 항목이 원본 구성도 요소(evidence)와 생성된 IaC 코드 라인에 상호 링크</a:t>
            </a:r>
            <a:endParaRPr lang="en-US" sz="1050"/>
          </a:p>
        </p:txBody>
      </p:sp>
      <p:sp>
        <p:nvSpPr>
          <p:cNvPr id="24" name="Card C"/>
          <p:cNvSpPr/>
          <p:nvPr/>
        </p:nvSpPr>
        <p:spPr>
          <a:xfrm>
            <a:off x="6278728" y="4131680"/>
            <a:ext cx="5227168" cy="940000"/>
          </a:xfrm>
          <a:prstGeom prst="roundRect">
            <a:avLst>
              <a:gd name="adj" fmla="val 7000"/>
            </a:avLst>
          </a:prstGeom>
          <a:solidFill>
            <a:srgbClr val="12294C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ard C Chip"/>
          <p:cNvSpPr/>
          <p:nvPr/>
        </p:nvSpPr>
        <p:spPr>
          <a:xfrm>
            <a:off x="6553048" y="4371680"/>
            <a:ext cx="500000" cy="460000"/>
          </a:xfrm>
          <a:prstGeom prst="roundRect">
            <a:avLst>
              <a:gd name="adj" fmla="val 18000"/>
            </a:avLst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endParaRPr lang="en-US" sz="1400"/>
          </a:p>
        </p:txBody>
      </p:sp>
      <p:sp>
        <p:nvSpPr>
          <p:cNvPr id="26" name="Card C Head"/>
          <p:cNvSpPr/>
          <p:nvPr/>
        </p:nvSpPr>
        <p:spPr>
          <a:xfrm>
            <a:off x="7233048" y="4281680"/>
            <a:ext cx="399384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표준 Report 형식 내보내기</a:t>
            </a:r>
            <a:endParaRPr lang="en-US" sz="1300"/>
          </a:p>
        </p:txBody>
      </p:sp>
      <p:sp>
        <p:nvSpPr>
          <p:cNvPr id="27" name="Card C Body"/>
          <p:cNvSpPr/>
          <p:nvPr/>
        </p:nvSpPr>
        <p:spPr>
          <a:xfrm>
            <a:off x="7233048" y="4601680"/>
            <a:ext cx="3993848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050">
                <a:solidFill>
                  <a:srgbClr val="AFC4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· Word(.docx) · PDF로 내보내 검토 · 승인 · 감사에 활용</a:t>
            </a:r>
            <a:endParaRPr lang="en-US" sz="1050"/>
          </a:p>
        </p:txBody>
      </p:sp>
      <p:sp>
        <p:nvSpPr>
          <p:cNvPr id="28" name="Chip 1 BG"/>
          <p:cNvSpPr/>
          <p:nvPr/>
        </p:nvSpPr>
        <p:spPr>
          <a:xfrm>
            <a:off x="685800" y="5257800"/>
            <a:ext cx="3423818" cy="749808"/>
          </a:xfrm>
          <a:prstGeom prst="roundRect">
            <a:avLst>
              <a:gd name="adj" fmla="val 9756"/>
            </a:avLst>
          </a:prstGeom>
          <a:solidFill>
            <a:srgbClr val="1235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Chip 1 Icon" descr="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74" y="5394960"/>
            <a:ext cx="339899" cy="475488"/>
          </a:xfrm>
          <a:prstGeom prst="rect">
            <a:avLst/>
          </a:prstGeom>
        </p:spPr>
      </p:pic>
      <p:sp>
        <p:nvSpPr>
          <p:cNvPr id="30" name="Chip 1 Text"/>
          <p:cNvSpPr/>
          <p:nvPr/>
        </p:nvSpPr>
        <p:spPr>
          <a:xfrm>
            <a:off x="1463040" y="5257800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architecture-spec.md</a:t>
            </a:r>
            <a:endParaRPr lang="en-US" sz="1200"/>
          </a:p>
        </p:txBody>
      </p:sp>
      <p:sp>
        <p:nvSpPr>
          <p:cNvPr id="31" name="Chip 2 BG"/>
          <p:cNvSpPr/>
          <p:nvPr/>
        </p:nvSpPr>
        <p:spPr>
          <a:xfrm>
            <a:off x="4383938" y="5257800"/>
            <a:ext cx="3423818" cy="749808"/>
          </a:xfrm>
          <a:prstGeom prst="roundRect">
            <a:avLst>
              <a:gd name="adj" fmla="val 9756"/>
            </a:avLst>
          </a:prstGeom>
          <a:solidFill>
            <a:srgbClr val="1235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Chip 2 Icon" descr="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612" y="5394960"/>
            <a:ext cx="339899" cy="475488"/>
          </a:xfrm>
          <a:prstGeom prst="rect">
            <a:avLst/>
          </a:prstGeom>
        </p:spPr>
      </p:pic>
      <p:sp>
        <p:nvSpPr>
          <p:cNvPr id="33" name="Chip 2 Text"/>
          <p:cNvSpPr/>
          <p:nvPr/>
        </p:nvSpPr>
        <p:spPr>
          <a:xfrm>
            <a:off x="5161178" y="5257800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architecture-spec.docx</a:t>
            </a:r>
            <a:endParaRPr lang="en-US" sz="1200"/>
          </a:p>
        </p:txBody>
      </p:sp>
      <p:sp>
        <p:nvSpPr>
          <p:cNvPr id="34" name="Chip 3 BG"/>
          <p:cNvSpPr/>
          <p:nvPr/>
        </p:nvSpPr>
        <p:spPr>
          <a:xfrm>
            <a:off x="8082077" y="5257800"/>
            <a:ext cx="3423818" cy="749808"/>
          </a:xfrm>
          <a:prstGeom prst="roundRect">
            <a:avLst>
              <a:gd name="adj" fmla="val 9756"/>
            </a:avLst>
          </a:prstGeom>
          <a:solidFill>
            <a:srgbClr val="1235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Chip 3 Icon" descr="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751" y="5394960"/>
            <a:ext cx="339899" cy="475488"/>
          </a:xfrm>
          <a:prstGeom prst="rect">
            <a:avLst/>
          </a:prstGeom>
        </p:spPr>
      </p:pic>
      <p:sp>
        <p:nvSpPr>
          <p:cNvPr id="36" name="Chip 3 Text"/>
          <p:cNvSpPr/>
          <p:nvPr/>
        </p:nvSpPr>
        <p:spPr>
          <a:xfrm>
            <a:off x="8859317" y="5257800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architecture-spec.pdf</a:t>
            </a:r>
            <a:endParaRPr lang="en-US" sz="1200"/>
          </a:p>
        </p:txBody>
      </p:sp>
      <p:sp>
        <p:nvSpPr>
          <p:cNvPr id="37" name="Footer Left"/>
          <p:cNvSpPr/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F77A0"/>
                </a:solidFill>
              </a:rPr>
              <a:t>Architecture Diagram to IaC Compiler</a:t>
            </a:r>
            <a:endParaRPr lang="en-US" sz="850"/>
          </a:p>
        </p:txBody>
      </p:sp>
      <p:sp>
        <p:nvSpPr>
          <p:cNvPr id="38" name="Footer Right"/>
          <p:cNvSpPr/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F77A0"/>
                </a:solidFill>
              </a:rPr>
              <a:t>13 / 17</a:t>
            </a:r>
            <a:endParaRPr lang="en-US" sz="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VALIDATION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코드 생성 후 자동 검증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227168" cy="3063240"/>
          </a:xfrm>
          <a:prstGeom prst="roundRect">
            <a:avLst>
              <a:gd name="adj" fmla="val 2388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60120" y="21945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Bicep 검증</a:t>
            </a:r>
            <a:endParaRPr lang="en-US" sz="1500" dirty="0"/>
          </a:p>
        </p:txBody>
      </p:sp>
      <p:sp>
        <p:nvSpPr>
          <p:cNvPr id="8" name="Shape 6"/>
          <p:cNvSpPr>
            <a:spLocks/>
          </p:cNvSpPr>
          <p:nvPr/>
        </p:nvSpPr>
        <p:spPr>
          <a:xfrm>
            <a:off x="978408" y="27249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>
            <a:spLocks/>
          </p:cNvSpPr>
          <p:nvPr/>
        </p:nvSpPr>
        <p:spPr>
          <a:xfrm>
            <a:off x="1325880" y="26426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bicep format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78408" y="31821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325880" y="30998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bicep lint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78408" y="36393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>
            <a:spLocks/>
          </p:cNvSpPr>
          <p:nvPr/>
        </p:nvSpPr>
        <p:spPr>
          <a:xfrm>
            <a:off x="1325880" y="35570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bicep build</a:t>
            </a:r>
            <a:endParaRPr lang="en-US" sz="125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>
            <a:off x="978408" y="40965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25880" y="40142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deployment validate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78408" y="45537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25880" y="44714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deployment what-if</a:t>
            </a:r>
            <a:endParaRPr lang="en-US" sz="1250" dirty="0"/>
          </a:p>
        </p:txBody>
      </p:sp>
      <p:sp>
        <p:nvSpPr>
          <p:cNvPr id="18" name="Shape 16"/>
          <p:cNvSpPr>
            <a:spLocks/>
          </p:cNvSpPr>
          <p:nvPr/>
        </p:nvSpPr>
        <p:spPr>
          <a:xfrm>
            <a:off x="6278728" y="2011680"/>
            <a:ext cx="5227168" cy="3063240"/>
          </a:xfrm>
          <a:prstGeom prst="roundRect">
            <a:avLst>
              <a:gd name="adj" fmla="val 2388"/>
            </a:avLst>
          </a:prstGeom>
          <a:solidFill>
            <a:srgbClr val="12294C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>
            <a:spLocks/>
          </p:cNvSpPr>
          <p:nvPr/>
        </p:nvSpPr>
        <p:spPr>
          <a:xfrm>
            <a:off x="6553048" y="21945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Terraform 검증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71336" y="27249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918808" y="26426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fmt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71336" y="31821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>
            <a:spLocks/>
          </p:cNvSpPr>
          <p:nvPr/>
        </p:nvSpPr>
        <p:spPr>
          <a:xfrm>
            <a:off x="6918808" y="30998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250" dirty="0"/>
          </a:p>
        </p:txBody>
      </p:sp>
      <p:sp>
        <p:nvSpPr>
          <p:cNvPr id="24" name="Shape 22"/>
          <p:cNvSpPr>
            <a:spLocks/>
          </p:cNvSpPr>
          <p:nvPr/>
        </p:nvSpPr>
        <p:spPr>
          <a:xfrm>
            <a:off x="6571336" y="36393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18808" y="35570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tflint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71336" y="4096512"/>
            <a:ext cx="201168" cy="201168"/>
          </a:xfrm>
          <a:prstGeom prst="ellipse">
            <a:avLst/>
          </a:prstGeom>
          <a:solidFill>
            <a:srgbClr val="1668B8"/>
          </a:solidFill>
          <a:ln w="1270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918808" y="401421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250" dirty="0"/>
          </a:p>
        </p:txBody>
      </p:sp>
      <p:sp>
        <p:nvSpPr>
          <p:cNvPr id="28" name="Shape 26"/>
          <p:cNvSpPr>
            <a:spLocks/>
          </p:cNvSpPr>
          <p:nvPr/>
        </p:nvSpPr>
        <p:spPr>
          <a:xfrm>
            <a:off x="685800" y="5257800"/>
            <a:ext cx="3423818" cy="749808"/>
          </a:xfrm>
          <a:prstGeom prst="roundRect">
            <a:avLst>
              <a:gd name="adj" fmla="val 9756"/>
            </a:avLst>
          </a:prstGeom>
          <a:solidFill>
            <a:srgbClr val="1235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0" descr="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74" y="5394960"/>
            <a:ext cx="339899" cy="47548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63040" y="5257800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validation-report.md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383938" y="5257800"/>
            <a:ext cx="3423818" cy="749808"/>
          </a:xfrm>
          <a:prstGeom prst="roundRect">
            <a:avLst>
              <a:gd name="adj" fmla="val 9756"/>
            </a:avLst>
          </a:prstGeom>
          <a:solidFill>
            <a:srgbClr val="1235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1" descr="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12" y="5394960"/>
            <a:ext cx="339899" cy="475488"/>
          </a:xfrm>
          <a:prstGeom prst="rect">
            <a:avLst/>
          </a:prstGeom>
        </p:spPr>
      </p:pic>
      <p:sp>
        <p:nvSpPr>
          <p:cNvPr id="33" name="Text 29"/>
          <p:cNvSpPr>
            <a:spLocks/>
          </p:cNvSpPr>
          <p:nvPr/>
        </p:nvSpPr>
        <p:spPr>
          <a:xfrm>
            <a:off x="5161178" y="5257800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unresolved-questions.md</a:t>
            </a:r>
            <a:endParaRPr lang="en-US" sz="1200" dirty="0"/>
          </a:p>
        </p:txBody>
      </p:sp>
      <p:sp>
        <p:nvSpPr>
          <p:cNvPr id="34" name="Shape 30"/>
          <p:cNvSpPr>
            <a:spLocks/>
          </p:cNvSpPr>
          <p:nvPr/>
        </p:nvSpPr>
        <p:spPr>
          <a:xfrm>
            <a:off x="8082077" y="5257800"/>
            <a:ext cx="3423818" cy="749808"/>
          </a:xfrm>
          <a:prstGeom prst="roundRect">
            <a:avLst>
              <a:gd name="adj" fmla="val 9756"/>
            </a:avLst>
          </a:prstGeom>
          <a:solidFill>
            <a:srgbClr val="12352A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751" y="5394960"/>
            <a:ext cx="339899" cy="4754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859317" y="5257800"/>
            <a:ext cx="250941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F0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deployment-plan.md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38" name="Text 33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F77A0"/>
                </a:solidFill>
              </a:rPr>
              <a:t>14 </a:t>
            </a:r>
            <a:r>
              <a:rPr lang="en-US" sz="850" dirty="0">
                <a:solidFill>
                  <a:srgbClr val="5F77A0"/>
                </a:solidFill>
              </a:rPr>
              <a:t>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MVP SCOPE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현실적인 1차 MVP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3393338" cy="4160520"/>
          </a:xfrm>
          <a:prstGeom prst="roundRect">
            <a:avLst>
              <a:gd name="adj" fmla="val 2156"/>
            </a:avLst>
          </a:prstGeom>
          <a:solidFill>
            <a:srgbClr val="12294C"/>
          </a:solidFill>
          <a:ln w="12700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393338" cy="91440"/>
          </a:xfrm>
          <a:prstGeom prst="rect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>
            <a:spLocks/>
          </p:cNvSpPr>
          <p:nvPr/>
        </p:nvSpPr>
        <p:spPr>
          <a:xfrm>
            <a:off x="960120" y="225856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docsca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63" y="2375611"/>
            <a:ext cx="490633" cy="4974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2258568"/>
            <a:ext cx="2113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입력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96696" y="3328416"/>
            <a:ext cx="128016" cy="128016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252728" y="32004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draw.io XML</a:t>
            </a:r>
            <a:endParaRPr lang="en-US" sz="1200" dirty="0"/>
          </a:p>
        </p:txBody>
      </p:sp>
      <p:sp>
        <p:nvSpPr>
          <p:cNvPr id="13" name="Shape 10"/>
          <p:cNvSpPr>
            <a:spLocks/>
          </p:cNvSpPr>
          <p:nvPr/>
        </p:nvSpPr>
        <p:spPr>
          <a:xfrm>
            <a:off x="996696" y="3785616"/>
            <a:ext cx="128016" cy="128016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>
            <a:spLocks/>
          </p:cNvSpPr>
          <p:nvPr/>
        </p:nvSpPr>
        <p:spPr>
          <a:xfrm>
            <a:off x="1252728" y="36576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PPTX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96696" y="4242816"/>
            <a:ext cx="128016" cy="128016"/>
          </a:xfrm>
          <a:prstGeom prst="ellipse">
            <a:avLst/>
          </a:prstGeom>
          <a:solidFill>
            <a:srgbClr val="2E9B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252728" y="41148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(보조)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99178" y="1965960"/>
            <a:ext cx="3393338" cy="4160520"/>
          </a:xfrm>
          <a:prstGeom prst="roundRect">
            <a:avLst>
              <a:gd name="adj" fmla="val 2156"/>
            </a:avLst>
          </a:prstGeom>
          <a:solidFill>
            <a:srgbClr val="12294C"/>
          </a:solidFill>
          <a:ln w="12700">
            <a:solidFill>
              <a:srgbClr val="5BB4FF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>
            <a:spLocks/>
          </p:cNvSpPr>
          <p:nvPr/>
        </p:nvSpPr>
        <p:spPr>
          <a:xfrm>
            <a:off x="4399178" y="1965960"/>
            <a:ext cx="3393338" cy="91440"/>
          </a:xfrm>
          <a:prstGeom prst="rect">
            <a:avLst/>
          </a:prstGeom>
          <a:solidFill>
            <a:srgbClr val="5BB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>
            <a:spLocks/>
          </p:cNvSpPr>
          <p:nvPr/>
        </p:nvSpPr>
        <p:spPr>
          <a:xfrm>
            <a:off x="4673498" y="225856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cloud icon"/>
          <p:cNvPicPr>
            <a:picLocks noChangeAspect="1"/>
          </p:cNvPicPr>
          <p:nvPr/>
        </p:nvPicPr>
        <p:blipFill>
          <a:blip r:embed="rId4"/>
          <a:srcRect l="16113" r="16114"/>
          <a:stretch>
            <a:fillRect/>
          </a:stretch>
        </p:blipFill>
        <p:spPr>
          <a:xfrm>
            <a:off x="4790542" y="2375611"/>
            <a:ext cx="497434" cy="4974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42178" y="2258568"/>
            <a:ext cx="2113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지원 리소스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710074" y="3328416"/>
            <a:ext cx="128016" cy="128016"/>
          </a:xfrm>
          <a:prstGeom prst="ellipse">
            <a:avLst/>
          </a:prstGeom>
          <a:solidFill>
            <a:srgbClr val="5BB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>
            <a:spLocks/>
          </p:cNvSpPr>
          <p:nvPr/>
        </p:nvSpPr>
        <p:spPr>
          <a:xfrm>
            <a:off x="4966106" y="32004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Group</a:t>
            </a:r>
            <a:endParaRPr lang="en-US" sz="1200" dirty="0"/>
          </a:p>
        </p:txBody>
      </p:sp>
      <p:sp>
        <p:nvSpPr>
          <p:cNvPr id="24" name="Shape 20"/>
          <p:cNvSpPr>
            <a:spLocks/>
          </p:cNvSpPr>
          <p:nvPr/>
        </p:nvSpPr>
        <p:spPr>
          <a:xfrm>
            <a:off x="4710074" y="3785616"/>
            <a:ext cx="128016" cy="128016"/>
          </a:xfrm>
          <a:prstGeom prst="ellipse">
            <a:avLst/>
          </a:prstGeom>
          <a:solidFill>
            <a:srgbClr val="5BB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4966106" y="36576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VNet / Subnet / NSG / Route Table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710074" y="4389120"/>
            <a:ext cx="128016" cy="128016"/>
          </a:xfrm>
          <a:prstGeom prst="ellipse">
            <a:avLst/>
          </a:prstGeom>
          <a:solidFill>
            <a:srgbClr val="5BB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/>
          <p:cNvSpPr/>
          <p:nvPr/>
        </p:nvSpPr>
        <p:spPr>
          <a:xfrm>
            <a:off x="4966106" y="4261104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Firewall</a:t>
            </a:r>
            <a:endParaRPr lang="en-US" sz="1200" dirty="0"/>
          </a:p>
        </p:txBody>
      </p:sp>
      <p:sp>
        <p:nvSpPr>
          <p:cNvPr id="28" name="Shape 24"/>
          <p:cNvSpPr>
            <a:spLocks/>
          </p:cNvSpPr>
          <p:nvPr/>
        </p:nvSpPr>
        <p:spPr>
          <a:xfrm>
            <a:off x="4710074" y="4846320"/>
            <a:ext cx="128016" cy="128016"/>
          </a:xfrm>
          <a:prstGeom prst="ellipse">
            <a:avLst/>
          </a:prstGeom>
          <a:solidFill>
            <a:srgbClr val="5BB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>
            <a:spLocks/>
          </p:cNvSpPr>
          <p:nvPr/>
        </p:nvSpPr>
        <p:spPr>
          <a:xfrm>
            <a:off x="4966106" y="4718304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AVD Workspace / Host Pool / App Group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710074" y="5449824"/>
            <a:ext cx="128016" cy="128016"/>
          </a:xfrm>
          <a:prstGeom prst="ellipse">
            <a:avLst/>
          </a:prstGeom>
          <a:solidFill>
            <a:srgbClr val="5BB4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4966106" y="5321808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Analytics / Diagnostic Settings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112557" y="1965960"/>
            <a:ext cx="3393338" cy="4160520"/>
          </a:xfrm>
          <a:prstGeom prst="roundRect">
            <a:avLst>
              <a:gd name="adj" fmla="val 2156"/>
            </a:avLst>
          </a:prstGeom>
          <a:solidFill>
            <a:srgbClr val="12294C"/>
          </a:solidFill>
          <a:ln w="12700">
            <a:solidFill>
              <a:srgbClr val="3DD68C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9"/>
          <p:cNvSpPr>
            <a:spLocks/>
          </p:cNvSpPr>
          <p:nvPr/>
        </p:nvSpPr>
        <p:spPr>
          <a:xfrm>
            <a:off x="8112557" y="1965960"/>
            <a:ext cx="3393338" cy="914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0"/>
          <p:cNvSpPr>
            <a:spLocks/>
          </p:cNvSpPr>
          <p:nvPr/>
        </p:nvSpPr>
        <p:spPr>
          <a:xfrm>
            <a:off x="8386877" y="2258568"/>
            <a:ext cx="731520" cy="731520"/>
          </a:xfrm>
          <a:prstGeom prst="roundRect">
            <a:avLst>
              <a:gd name="adj" fmla="val 8750"/>
            </a:avLst>
          </a:prstGeom>
          <a:solidFill>
            <a:srgbClr val="163A6B"/>
          </a:solidFill>
          <a:ln w="12700">
            <a:solidFill>
              <a:srgbClr val="2E9B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2" descr="cod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401843"/>
            <a:ext cx="497434" cy="44497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255557" y="2258568"/>
            <a:ext cx="2113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출력</a:t>
            </a:r>
            <a:endParaRPr lang="en-US" sz="1700" dirty="0"/>
          </a:p>
        </p:txBody>
      </p:sp>
      <p:sp>
        <p:nvSpPr>
          <p:cNvPr id="37" name="Shape 32"/>
          <p:cNvSpPr/>
          <p:nvPr/>
        </p:nvSpPr>
        <p:spPr>
          <a:xfrm>
            <a:off x="8423453" y="3328416"/>
            <a:ext cx="128016" cy="128016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3"/>
          <p:cNvSpPr>
            <a:spLocks/>
          </p:cNvSpPr>
          <p:nvPr/>
        </p:nvSpPr>
        <p:spPr>
          <a:xfrm>
            <a:off x="8679485" y="3200400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architecture.ir.json</a:t>
            </a:r>
            <a:endParaRPr lang="en-US" sz="1200" dirty="0"/>
          </a:p>
        </p:txBody>
      </p:sp>
      <p:sp>
        <p:nvSpPr>
          <p:cNvPr id="39" name="Shape 34"/>
          <p:cNvSpPr>
            <a:spLocks/>
          </p:cNvSpPr>
          <p:nvPr/>
        </p:nvSpPr>
        <p:spPr>
          <a:xfrm>
            <a:off x="8423453" y="3931920"/>
            <a:ext cx="128016" cy="128016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5"/>
          <p:cNvSpPr>
            <a:spLocks/>
          </p:cNvSpPr>
          <p:nvPr/>
        </p:nvSpPr>
        <p:spPr>
          <a:xfrm>
            <a:off x="8679485" y="3803904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detected-elements.csv</a:t>
            </a:r>
            <a:endParaRPr lang="en-US" sz="1200" dirty="0"/>
          </a:p>
        </p:txBody>
      </p:sp>
      <p:sp>
        <p:nvSpPr>
          <p:cNvPr id="41" name="Shape 36"/>
          <p:cNvSpPr>
            <a:spLocks/>
          </p:cNvSpPr>
          <p:nvPr/>
        </p:nvSpPr>
        <p:spPr>
          <a:xfrm>
            <a:off x="8423453" y="4535424"/>
            <a:ext cx="128016" cy="128016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>
            <a:spLocks/>
          </p:cNvSpPr>
          <p:nvPr/>
        </p:nvSpPr>
        <p:spPr>
          <a:xfrm>
            <a:off x="8679485" y="4407408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iac-readiness-report.md</a:t>
            </a:r>
            <a:endParaRPr lang="en-US" sz="1200" dirty="0"/>
          </a:p>
        </p:txBody>
      </p:sp>
      <p:sp>
        <p:nvSpPr>
          <p:cNvPr id="43" name="Shape 38"/>
          <p:cNvSpPr>
            <a:spLocks/>
          </p:cNvSpPr>
          <p:nvPr/>
        </p:nvSpPr>
        <p:spPr>
          <a:xfrm>
            <a:off x="8423453" y="5138928"/>
            <a:ext cx="128016" cy="128016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9"/>
          <p:cNvSpPr/>
          <p:nvPr/>
        </p:nvSpPr>
        <p:spPr>
          <a:xfrm>
            <a:off x="8679485" y="5010912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main.bicep</a:t>
            </a:r>
            <a:endParaRPr lang="en-US" sz="1200" dirty="0"/>
          </a:p>
        </p:txBody>
      </p:sp>
      <p:sp>
        <p:nvSpPr>
          <p:cNvPr id="45" name="Shape 40"/>
          <p:cNvSpPr>
            <a:spLocks/>
          </p:cNvSpPr>
          <p:nvPr/>
        </p:nvSpPr>
        <p:spPr>
          <a:xfrm>
            <a:off x="8423453" y="5596128"/>
            <a:ext cx="128016" cy="128016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>
            <a:spLocks/>
          </p:cNvSpPr>
          <p:nvPr/>
        </p:nvSpPr>
        <p:spPr>
          <a:xfrm>
            <a:off x="8679485" y="5468112"/>
            <a:ext cx="25703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validation-report.md</a:t>
            </a:r>
            <a:endParaRPr lang="en-US" sz="1200" dirty="0"/>
          </a:p>
        </p:txBody>
      </p:sp>
      <p:sp>
        <p:nvSpPr>
          <p:cNvPr id="47" name="Text 42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48" name="Text 43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F77A0"/>
                </a:solidFill>
              </a:rPr>
              <a:t>15 </a:t>
            </a:r>
            <a:r>
              <a:rPr lang="en-US" sz="850" dirty="0">
                <a:solidFill>
                  <a:srgbClr val="5F77A0"/>
                </a:solidFill>
              </a:rPr>
              <a:t>/ </a:t>
            </a:r>
            <a:r>
              <a:rPr lang="en-US" sz="850">
                <a:solidFill>
                  <a:srgbClr val="5F77A0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05295" y="0"/>
            <a:ext cx="5486400" cy="5486400"/>
          </a:xfrm>
          <a:prstGeom prst="ellipse">
            <a:avLst/>
          </a:prstGeom>
          <a:solidFill>
            <a:srgbClr val="10406F">
              <a:alpha val="3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2286000"/>
            <a:ext cx="4572000" cy="4572000"/>
          </a:xfrm>
          <a:prstGeom prst="ellipse">
            <a:avLst/>
          </a:prstGeom>
          <a:solidFill>
            <a:srgbClr val="0E2C5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2E9B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1250" kern="0" spc="300" dirty="0">
                <a:solidFill>
                  <a:srgbClr val="93A9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ROADMAP</a:t>
            </a:r>
            <a:endParaRPr lang="en-US" sz="12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41248"/>
            <a:ext cx="1082009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단계별 확장 로드맵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188720" y="2286000"/>
            <a:ext cx="0" cy="4114800"/>
          </a:xfrm>
          <a:prstGeom prst="line">
            <a:avLst/>
          </a:prstGeom>
          <a:noFill/>
          <a:ln w="254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42416" y="2331720"/>
            <a:ext cx="292608" cy="292608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>
            <a:spLocks/>
          </p:cNvSpPr>
          <p:nvPr/>
        </p:nvSpPr>
        <p:spPr>
          <a:xfrm>
            <a:off x="1042416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>
            <a:spLocks/>
          </p:cNvSpPr>
          <p:nvPr/>
        </p:nvSpPr>
        <p:spPr>
          <a:xfrm>
            <a:off x="1554480" y="2194560"/>
            <a:ext cx="9951415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773936" y="21945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7939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 Understanding Engine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42416" y="2953512"/>
            <a:ext cx="292608" cy="292608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>
            <a:spLocks/>
          </p:cNvSpPr>
          <p:nvPr/>
        </p:nvSpPr>
        <p:spPr>
          <a:xfrm>
            <a:off x="1042416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>
            <a:off x="1554480" y="2816352"/>
            <a:ext cx="9951415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773936" y="28163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816352"/>
            <a:ext cx="7939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IR Compiler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2416" y="3575304"/>
            <a:ext cx="292608" cy="292608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>
            <a:spLocks/>
          </p:cNvSpPr>
          <p:nvPr/>
        </p:nvSpPr>
        <p:spPr>
          <a:xfrm>
            <a:off x="1042416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>
            <a:spLocks/>
          </p:cNvSpPr>
          <p:nvPr/>
        </p:nvSpPr>
        <p:spPr>
          <a:xfrm>
            <a:off x="1554480" y="3438144"/>
            <a:ext cx="9951415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773936" y="34381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438144"/>
            <a:ext cx="7939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Bicep Generator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42416" y="4197096"/>
            <a:ext cx="292608" cy="292608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>
            <a:spLocks/>
          </p:cNvSpPr>
          <p:nvPr/>
        </p:nvSpPr>
        <p:spPr>
          <a:xfrm>
            <a:off x="1042416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>
            <a:spLocks/>
          </p:cNvSpPr>
          <p:nvPr/>
        </p:nvSpPr>
        <p:spPr>
          <a:xfrm>
            <a:off x="1554480" y="4059936"/>
            <a:ext cx="9951415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773936" y="405993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4059936"/>
            <a:ext cx="7939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&amp; What-if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42416" y="4818888"/>
            <a:ext cx="292608" cy="292608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>
            <a:spLocks/>
          </p:cNvSpPr>
          <p:nvPr/>
        </p:nvSpPr>
        <p:spPr>
          <a:xfrm>
            <a:off x="1042416" y="4818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>
            <a:spLocks/>
          </p:cNvSpPr>
          <p:nvPr/>
        </p:nvSpPr>
        <p:spPr>
          <a:xfrm>
            <a:off x="1554480" y="4681728"/>
            <a:ext cx="9951415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773936" y="46817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83280" y="4681728"/>
            <a:ext cx="7939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Terraform Generator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42416" y="5440680"/>
            <a:ext cx="292608" cy="292608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>
            <a:spLocks/>
          </p:cNvSpPr>
          <p:nvPr/>
        </p:nvSpPr>
        <p:spPr>
          <a:xfrm>
            <a:off x="1042416" y="5440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Shape 32"/>
          <p:cNvSpPr>
            <a:spLocks/>
          </p:cNvSpPr>
          <p:nvPr/>
        </p:nvSpPr>
        <p:spPr>
          <a:xfrm>
            <a:off x="1554480" y="5303520"/>
            <a:ext cx="9951415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773936" y="5303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5303520"/>
            <a:ext cx="7939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/ Policy / Intune / PIM 자동화 확장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42416" y="6062472"/>
            <a:ext cx="292608" cy="292608"/>
          </a:xfrm>
          <a:prstGeom prst="ellipse">
            <a:avLst/>
          </a:prstGeom>
          <a:solidFill>
            <a:srgbClr val="1668B8"/>
          </a:solidFill>
          <a:ln w="19050">
            <a:solidFill>
              <a:srgbClr val="5BB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>
            <a:spLocks/>
          </p:cNvSpPr>
          <p:nvPr/>
        </p:nvSpPr>
        <p:spPr>
          <a:xfrm>
            <a:off x="1042416" y="6062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9" name="Shape 37"/>
          <p:cNvSpPr>
            <a:spLocks/>
          </p:cNvSpPr>
          <p:nvPr/>
        </p:nvSpPr>
        <p:spPr>
          <a:xfrm>
            <a:off x="1554480" y="5925312"/>
            <a:ext cx="9951415" cy="566928"/>
          </a:xfrm>
          <a:prstGeom prst="roundRect">
            <a:avLst>
              <a:gd name="adj" fmla="val 12903"/>
            </a:avLst>
          </a:prstGeom>
          <a:solidFill>
            <a:srgbClr val="12294C"/>
          </a:solidFill>
          <a:ln w="12700">
            <a:solidFill>
              <a:srgbClr val="27466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>
            <a:spLocks/>
          </p:cNvSpPr>
          <p:nvPr/>
        </p:nvSpPr>
        <p:spPr>
          <a:xfrm>
            <a:off x="1773936" y="59253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B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Phase 7</a:t>
            </a:r>
            <a:endParaRPr lang="en-US" sz="1300" dirty="0"/>
          </a:p>
        </p:txBody>
      </p:sp>
      <p:sp>
        <p:nvSpPr>
          <p:cNvPr id="41" name="Text 39"/>
          <p:cNvSpPr>
            <a:spLocks/>
          </p:cNvSpPr>
          <p:nvPr/>
        </p:nvSpPr>
        <p:spPr>
          <a:xfrm>
            <a:off x="3383280" y="5925312"/>
            <a:ext cx="7939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/ Azure DevOps PR 자동화</a:t>
            </a:r>
            <a:endParaRPr lang="en-US" sz="1250" dirty="0"/>
          </a:p>
        </p:txBody>
      </p:sp>
      <p:sp>
        <p:nvSpPr>
          <p:cNvPr id="42" name="Text 40"/>
          <p:cNvSpPr>
            <a:spLocks/>
          </p:cNvSpPr>
          <p:nvPr/>
        </p:nvSpPr>
        <p:spPr>
          <a:xfrm>
            <a:off x="685800" y="64556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7A0"/>
                </a:solidFill>
              </a:rPr>
              <a:t>Architecture Diagram to IaC Compiler</a:t>
            </a:r>
            <a:endParaRPr lang="en-US" sz="850" dirty="0"/>
          </a:p>
        </p:txBody>
      </p:sp>
      <p:sp>
        <p:nvSpPr>
          <p:cNvPr id="43" name="Text 41"/>
          <p:cNvSpPr>
            <a:spLocks/>
          </p:cNvSpPr>
          <p:nvPr/>
        </p:nvSpPr>
        <p:spPr>
          <a:xfrm>
            <a:off x="10042855" y="6455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F77A0"/>
                </a:solidFill>
              </a:rPr>
              <a:t>16</a:t>
            </a:r>
            <a:r>
              <a:rPr lang="en-US" sz="850">
                <a:solidFill>
                  <a:srgbClr val="5F77A0"/>
                </a:solidFill>
              </a:rPr>
              <a:t> / 17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0">
              <a:alpha val="7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685800" y="640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BB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</a:t>
            </a:r>
            <a:endParaRPr lang="en-US" sz="13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685800" y="105156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목표는 “그림을 코드로 바꾸는 것”이 아니라,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“아키텍처 의도를 코드화하는 것”</a:t>
            </a:r>
            <a:endParaRPr lang="en-US" sz="2700" dirty="0"/>
          </a:p>
        </p:txBody>
      </p:sp>
      <p:sp>
        <p:nvSpPr>
          <p:cNvPr id="5" name="Shape 3"/>
          <p:cNvSpPr>
            <a:spLocks/>
          </p:cNvSpPr>
          <p:nvPr/>
        </p:nvSpPr>
        <p:spPr>
          <a:xfrm>
            <a:off x="685800" y="3154680"/>
            <a:ext cx="2224964" cy="2148840"/>
          </a:xfrm>
          <a:prstGeom prst="roundRect">
            <a:avLst>
              <a:gd name="adj" fmla="val 4681"/>
            </a:avLst>
          </a:prstGeom>
          <a:solidFill>
            <a:srgbClr val="12294C"/>
          </a:solidFill>
          <a:ln w="15875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Architecture Diagram Understanding Eng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143" y="3474720"/>
            <a:ext cx="1082278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572000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Diagram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Understanding Engine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20492" y="4229100"/>
            <a:ext cx="420624" cy="0"/>
          </a:xfrm>
          <a:prstGeom prst="line">
            <a:avLst/>
          </a:prstGeom>
          <a:noFill/>
          <a:ln w="349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550844" y="3154680"/>
            <a:ext cx="2224964" cy="2148840"/>
          </a:xfrm>
          <a:prstGeom prst="roundRect">
            <a:avLst>
              <a:gd name="adj" fmla="val 4681"/>
            </a:avLst>
          </a:prstGeom>
          <a:solidFill>
            <a:srgbClr val="12294C"/>
          </a:solidFill>
          <a:ln w="15875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Architecture IR Compil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686" y="3586162"/>
            <a:ext cx="1097280" cy="8743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42284" y="4572000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 IR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Compiler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885536" y="4229100"/>
            <a:ext cx="420624" cy="0"/>
          </a:xfrm>
          <a:prstGeom prst="line">
            <a:avLst/>
          </a:prstGeom>
          <a:noFill/>
          <a:ln w="349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415888" y="3154680"/>
            <a:ext cx="2224964" cy="2148840"/>
          </a:xfrm>
          <a:prstGeom prst="roundRect">
            <a:avLst>
              <a:gd name="adj" fmla="val 4681"/>
            </a:avLst>
          </a:prstGeom>
          <a:solidFill>
            <a:srgbClr val="12294C"/>
          </a:solidFill>
          <a:ln w="15875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aC Genera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730" y="3532584"/>
            <a:ext cx="1097280" cy="9815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07328" y="4572000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IaC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Generator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750579" y="4229100"/>
            <a:ext cx="420624" cy="0"/>
          </a:xfrm>
          <a:prstGeom prst="line">
            <a:avLst/>
          </a:prstGeom>
          <a:noFill/>
          <a:ln w="34925">
            <a:solidFill>
              <a:srgbClr val="5BB4FF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9280931" y="3154680"/>
            <a:ext cx="2224964" cy="2148840"/>
          </a:xfrm>
          <a:prstGeom prst="roundRect">
            <a:avLst>
              <a:gd name="adj" fmla="val 4681"/>
            </a:avLst>
          </a:prstGeom>
          <a:solidFill>
            <a:srgbClr val="12294C"/>
          </a:solidFill>
          <a:ln w="15875">
            <a:solidFill>
              <a:srgbClr val="2E9BF0"/>
            </a:solidFill>
            <a:prstDash val="solid"/>
          </a:ln>
          <a:effectLst>
            <a:outerShdw blurRad="114300" dist="38100" dir="5400000" algn="bl" rotWithShape="0">
              <a:srgbClr val="030A18">
                <a:alpha val="4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Validation Autom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5856" y="3474720"/>
            <a:ext cx="915114" cy="10972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72371" y="4572000"/>
            <a:ext cx="20420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B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Diagram Understanding Engine  →  Architecture IR Compiler  →  IaC Generator  →  Validation Automation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85800" y="64465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7A0"/>
                </a:solidFill>
              </a:rPr>
              <a:t>Architecture Diagram to IaC Compiler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1267</Words>
  <Application>Microsoft Office PowerPoint</Application>
  <PresentationFormat>와이드스크린</PresentationFormat>
  <Paragraphs>326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Consolas</vt:lpstr>
      <vt:lpstr>Segoe UI</vt:lpstr>
      <vt:lpstr>Segoe UI Semibold</vt:lpstr>
      <vt:lpstr>Office Theme</vt:lpstr>
      <vt:lpstr>PowerPoint 프레젠테이션</vt:lpstr>
      <vt:lpstr>문제 정의</vt:lpstr>
      <vt:lpstr>최종 결론</vt:lpstr>
      <vt:lpstr>Multi-Stage Architecture Understanding Workflow</vt:lpstr>
      <vt:lpstr>VLM은 단독 판정자가 아니라 Reconciliation Engine</vt:lpstr>
      <vt:lpstr>Research-Inspired Design Principles</vt:lpstr>
      <vt:lpstr>Multi-Extractor Layer</vt:lpstr>
      <vt:lpstr>모든 구성요소를 ID 기반 Registry로 정규화</vt:lpstr>
      <vt:lpstr>구성도를 Architecture Graph로 복원</vt:lpstr>
      <vt:lpstr>IaC 생성을 위한 중간 표현 (Architecture IR)</vt:lpstr>
      <vt:lpstr>누락 정보는 억지 추론하지 않고 질문으로 관리</vt:lpstr>
      <vt:lpstr>IR 기반 Bicep / Terraform 동시 생성</vt:lpstr>
      <vt:lpstr>코드와 함께 구성도 상세 정의서 자동 산출</vt:lpstr>
      <vt:lpstr>코드 생성 후 자동 검증</vt:lpstr>
      <vt:lpstr>현실적인 1차 MVP</vt:lpstr>
      <vt:lpstr>단계별 확장 로드맵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Diagram to IaC Compiler</dc:title>
  <dc:creator>박상민</dc:creator>
  <cp:lastModifiedBy>박상민</cp:lastModifiedBy>
  <cp:revision>3</cp:revision>
  <dcterms:created xsi:type="dcterms:W3CDTF">2006-08-16T00:00:00Z</dcterms:created>
  <dcterms:modified xsi:type="dcterms:W3CDTF">2026-07-09T02:54:30Z</dcterms:modified>
  <dc:identifier>DAHOMNiNkb0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7ee6f8-8cc4-4aa6-ade4-2236ec909272_Enabled">
    <vt:lpwstr>true</vt:lpwstr>
  </property>
  <property fmtid="{D5CDD505-2E9C-101B-9397-08002B2CF9AE}" pid="3" name="MSIP_Label_8a7ee6f8-8cc4-4aa6-ade4-2236ec909272_SetDate">
    <vt:lpwstr>2026-07-02T06:34:25Z</vt:lpwstr>
  </property>
  <property fmtid="{D5CDD505-2E9C-101B-9397-08002B2CF9AE}" pid="4" name="MSIP_Label_8a7ee6f8-8cc4-4aa6-ade4-2236ec909272_Method">
    <vt:lpwstr>Standard</vt:lpwstr>
  </property>
  <property fmtid="{D5CDD505-2E9C-101B-9397-08002B2CF9AE}" pid="5" name="MSIP_Label_8a7ee6f8-8cc4-4aa6-ade4-2236ec909272_Name">
    <vt:lpwstr>Confidential-unlock</vt:lpwstr>
  </property>
  <property fmtid="{D5CDD505-2E9C-101B-9397-08002B2CF9AE}" pid="6" name="MSIP_Label_8a7ee6f8-8cc4-4aa6-ade4-2236ec909272_SiteId">
    <vt:lpwstr>6144959d-620b-4d3d-9090-c4891f1914ce</vt:lpwstr>
  </property>
  <property fmtid="{D5CDD505-2E9C-101B-9397-08002B2CF9AE}" pid="7" name="MSIP_Label_8a7ee6f8-8cc4-4aa6-ade4-2236ec909272_ActionId">
    <vt:lpwstr>6c224d1a-318e-4fab-99c7-91f4c94149b1</vt:lpwstr>
  </property>
  <property fmtid="{D5CDD505-2E9C-101B-9397-08002B2CF9AE}" pid="8" name="MSIP_Label_8a7ee6f8-8cc4-4aa6-ade4-2236ec909272_ContentBits">
    <vt:lpwstr>3</vt:lpwstr>
  </property>
  <property fmtid="{D5CDD505-2E9C-101B-9397-08002B2CF9AE}" pid="9" name="MSIP_Label_8a7ee6f8-8cc4-4aa6-ade4-2236ec909272_Tag">
    <vt:lpwstr>10, 3, 0, 1</vt:lpwstr>
  </property>
  <property fmtid="{D5CDD505-2E9C-101B-9397-08002B2CF9AE}" pid="10" name="ClassificationContentMarkingFooterLocations">
    <vt:lpwstr>Office Theme:5</vt:lpwstr>
  </property>
  <property fmtid="{D5CDD505-2E9C-101B-9397-08002B2CF9AE}" pid="11" name="ClassificationContentMarkingFooterText">
    <vt:lpwstr>박상민 | Architecture Diagram to IaC Compiler.pptx</vt:lpwstr>
  </property>
  <property fmtid="{D5CDD505-2E9C-101B-9397-08002B2CF9AE}" pid="12" name="ClassificationContentMarkingHeaderLocations">
    <vt:lpwstr>Office Theme:4</vt:lpwstr>
  </property>
  <property fmtid="{D5CDD505-2E9C-101B-9397-08002B2CF9AE}" pid="13" name="ClassificationContentMarkingHeaderText">
    <vt:lpwstr>[Confidential] 본 문서는 TDG의 소유입니다.</vt:lpwstr>
  </property>
</Properties>
</file>